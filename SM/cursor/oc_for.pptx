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147482270" r:id="rId2"/>
    <p:sldId id="2147481460" r:id="rId3"/>
    <p:sldId id="2147482274" r:id="rId4"/>
    <p:sldId id="2147482275" r:id="rId5"/>
    <p:sldId id="2147482281" r:id="rId6"/>
    <p:sldId id="2147482280" r:id="rId7"/>
    <p:sldId id="2147483529" r:id="rId8"/>
    <p:sldId id="2147482278" r:id="rId9"/>
    <p:sldId id="2147483528" r:id="rId10"/>
    <p:sldId id="2147482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gbtm1fy\Downloads\owssvr.iqy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gbtm1fy\Downloads\owssvr.iqy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gbtm1fy\Downloads\owssvr.iqy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120826\OCC%20-%20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120826\OCC%20-%20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040826\OCC%20-%202026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120826\OCC%20-%20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120826\OCC%20-%202026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120826\OCC%20-%202026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120826\Copy%20of%20OCC%20Dashboard%20V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hbrhct\Documents\2026\August\120826\Copy%20of%20OCC%20Dashboard%20V1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[Book22]Sheet3!PivotTable43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numFmt formatCode="#,##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numFmt formatCode="#,##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prstDash val="sysDot"/>
            <a:round/>
          </a:ln>
          <a:effectLst/>
        </c:spPr>
        <c:marker>
          <c:symbol val="none"/>
        </c:marker>
        <c:dLbl>
          <c:idx val="0"/>
          <c:numFmt formatCode="#,##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none"/>
          </c:marker>
          <c:dLbls>
            <c:numFmt formatCode="#,##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Sheet3!$A$4:$A$16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  <c:lvl>
                  <c:pt idx="0">
                    <c:v>Qtr1</c:v>
                  </c:pt>
                  <c:pt idx="3">
                    <c:v>Qtr2</c:v>
                  </c:pt>
                  <c:pt idx="6">
                    <c:v>Qtr3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Sheet3!$B$4:$B$16</c:f>
              <c:numCache>
                <c:formatCode>General</c:formatCode>
                <c:ptCount val="8"/>
                <c:pt idx="0">
                  <c:v>2846132.5970000001</c:v>
                </c:pt>
                <c:pt idx="1">
                  <c:v>9847004.9299999978</c:v>
                </c:pt>
                <c:pt idx="2">
                  <c:v>4649151.9999999991</c:v>
                </c:pt>
                <c:pt idx="3">
                  <c:v>3121473.3899999997</c:v>
                </c:pt>
                <c:pt idx="4">
                  <c:v>2203066.9500000002</c:v>
                </c:pt>
                <c:pt idx="5">
                  <c:v>4314639.9179999996</c:v>
                </c:pt>
                <c:pt idx="6">
                  <c:v>228792.7</c:v>
                </c:pt>
                <c:pt idx="7">
                  <c:v>1461040.0999999999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BAF-4F82-A6B5-0702324211E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7805535"/>
        <c:axId val="487807935"/>
      </c:lineChart>
      <c:catAx>
        <c:axId val="487805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807935"/>
        <c:crosses val="autoZero"/>
        <c:auto val="1"/>
        <c:lblAlgn val="ctr"/>
        <c:lblOffset val="100"/>
        <c:noMultiLvlLbl val="0"/>
      </c:catAx>
      <c:valAx>
        <c:axId val="4878079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7805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[Aproved Posted OCC 11082026.xlsx]Posted Approved Pivot!PivotTable22</c:name>
    <c:fmtId val="1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4.1731872717788214E-2"/>
            </c:manualLayout>
          </c:layout>
          <c:spPr>
            <a:noFill/>
            <a:ln>
              <a:solidFill>
                <a:srgbClr val="002060">
                  <a:alpha val="86000"/>
                </a:srgb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6.979231239311115E-3"/>
              <c:y val="-2.60824204486176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2.86906624934793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919562818467299E-3"/>
              <c:y val="-2.60824204486176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3.12989045383412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3.12989045383412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8682300390843E-3"/>
              <c:y val="-2.86906624934793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4.8855388051367903E-2"/>
              <c:y val="7.8247261345851943E-3"/>
            </c:manualLayout>
          </c:layout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5.1647124511446117E-2"/>
              <c:y val="0"/>
            </c:manualLayout>
          </c:layout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-3.12989045383411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-3.12989045383411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8682300390843E-3"/>
              <c:y val="-2.86906624934793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3.12989045383412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3.12989045383412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919562818467299E-3"/>
              <c:y val="-2.60824204486176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2.86906624934793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6.979231239311115E-3"/>
              <c:y val="-2.60824204486176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4.1731872717788214E-2"/>
            </c:manualLayout>
          </c:layout>
          <c:spPr>
            <a:noFill/>
            <a:ln>
              <a:solidFill>
                <a:srgbClr val="002060">
                  <a:alpha val="86000"/>
                </a:srgb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5.1647124511446117E-2"/>
              <c:y val="0"/>
            </c:manualLayout>
          </c:layout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4.8855388051367903E-2"/>
              <c:y val="7.8247261345851943E-3"/>
            </c:manualLayout>
          </c:layout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-3.12989045383411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8682300390843E-3"/>
              <c:y val="-2.86906624934793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3.12989045383412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3.12989045383412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919562818467299E-3"/>
              <c:y val="-2.60824204486176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2.86906624934793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6.979231239311115E-3"/>
              <c:y val="-2.60824204486176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959781409233394E-3"/>
              <c:y val="-4.1731872717788214E-2"/>
            </c:manualLayout>
          </c:layout>
          <c:spPr>
            <a:noFill/>
            <a:ln>
              <a:solidFill>
                <a:srgbClr val="002060">
                  <a:alpha val="86000"/>
                </a:srgb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5.1647124511446117E-2"/>
              <c:y val="0"/>
            </c:manualLayout>
          </c:layout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4.8855388051367903E-2"/>
              <c:y val="7.8247261345851943E-3"/>
            </c:manualLayout>
          </c:layout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1430066371136461"/>
          <c:y val="3.3520057087272598E-2"/>
          <c:w val="0.60586585609072174"/>
          <c:h val="0.8960321562202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'Posted Approved Pivot'!$B$3</c:f>
              <c:strCache>
                <c:ptCount val="1"/>
                <c:pt idx="0">
                  <c:v>Count of Account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'Posted Approved Pivot'!$A$4:$A$12</c:f>
              <c:strCache>
                <c:ptCount val="8"/>
                <c:pt idx="0">
                  <c:v>Account Manager Error</c:v>
                </c:pt>
                <c:pt idx="1">
                  <c:v>Agent Error</c:v>
                </c:pt>
                <c:pt idx="2">
                  <c:v>Others</c:v>
                </c:pt>
                <c:pt idx="3">
                  <c:v>Product Limitation in CRM</c:v>
                </c:pt>
                <c:pt idx="4">
                  <c:v>Rebate</c:v>
                </c:pt>
                <c:pt idx="5">
                  <c:v>Bulk SMS</c:v>
                </c:pt>
                <c:pt idx="6">
                  <c:v>Discount Issue (BSCS/CRM)</c:v>
                </c:pt>
                <c:pt idx="7">
                  <c:v>Goodwill Bonus</c:v>
                </c:pt>
              </c:strCache>
            </c:strRef>
          </c:cat>
          <c:val>
            <c:numRef>
              <c:f>'Posted Approved Pivot'!$B$4:$B$12</c:f>
              <c:numCache>
                <c:formatCode>General</c:formatCode>
                <c:ptCount val="8"/>
                <c:pt idx="0">
                  <c:v>5</c:v>
                </c:pt>
                <c:pt idx="1">
                  <c:v>7</c:v>
                </c:pt>
                <c:pt idx="2">
                  <c:v>16</c:v>
                </c:pt>
                <c:pt idx="3">
                  <c:v>15</c:v>
                </c:pt>
                <c:pt idx="4">
                  <c:v>32</c:v>
                </c:pt>
                <c:pt idx="5">
                  <c:v>38</c:v>
                </c:pt>
                <c:pt idx="6">
                  <c:v>15</c:v>
                </c:pt>
                <c:pt idx="7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59-4CC4-B7B5-A3D09429577B}"/>
            </c:ext>
          </c:extLst>
        </c:ser>
        <c:ser>
          <c:idx val="1"/>
          <c:order val="1"/>
          <c:tx>
            <c:strRef>
              <c:f>'Posted Approved Pivot'!$C$3</c:f>
              <c:strCache>
                <c:ptCount val="1"/>
                <c:pt idx="0">
                  <c:v>Sum of Total OCC Value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282616451428612E-2"/>
                  <c:y val="-3.0472779170248937E-3"/>
                </c:manualLayout>
              </c:layout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59-4CC4-B7B5-A3D09429577B}"/>
                </c:ext>
              </c:extLst>
            </c:dLbl>
            <c:dLbl>
              <c:idx val="1"/>
              <c:layout>
                <c:manualLayout>
                  <c:x val="8.4908651290514555E-3"/>
                  <c:y val="1.730230004697975E-3"/>
                </c:manualLayout>
              </c:layout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759-4CC4-B7B5-A3D09429577B}"/>
                </c:ext>
              </c:extLst>
            </c:dLbl>
            <c:dLbl>
              <c:idx val="2"/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759-4CC4-B7B5-A3D09429577B}"/>
                </c:ext>
              </c:extLst>
            </c:dLbl>
            <c:dLbl>
              <c:idx val="3"/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C759-4CC4-B7B5-A3D09429577B}"/>
                </c:ext>
              </c:extLst>
            </c:dLbl>
            <c:dLbl>
              <c:idx val="4"/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759-4CC4-B7B5-A3D09429577B}"/>
                </c:ext>
              </c:extLst>
            </c:dLbl>
            <c:dLbl>
              <c:idx val="5"/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C759-4CC4-B7B5-A3D09429577B}"/>
                </c:ext>
              </c:extLst>
            </c:dLbl>
            <c:dLbl>
              <c:idx val="6"/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C759-4CC4-B7B5-A3D09429577B}"/>
                </c:ext>
              </c:extLst>
            </c:dLbl>
            <c:dLbl>
              <c:idx val="7"/>
              <c:numFmt formatCode="#,##0.0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C759-4CC4-B7B5-A3D09429577B}"/>
                </c:ext>
              </c:extLst>
            </c:dLbl>
            <c:numFmt formatCode="#,##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'Posted Approved Pivot'!$A$4:$A$12</c:f>
              <c:strCache>
                <c:ptCount val="8"/>
                <c:pt idx="0">
                  <c:v>Account Manager Error</c:v>
                </c:pt>
                <c:pt idx="1">
                  <c:v>Agent Error</c:v>
                </c:pt>
                <c:pt idx="2">
                  <c:v>Others</c:v>
                </c:pt>
                <c:pt idx="3">
                  <c:v>Product Limitation in CRM</c:v>
                </c:pt>
                <c:pt idx="4">
                  <c:v>Rebate</c:v>
                </c:pt>
                <c:pt idx="5">
                  <c:v>Bulk SMS</c:v>
                </c:pt>
                <c:pt idx="6">
                  <c:v>Discount Issue (BSCS/CRM)</c:v>
                </c:pt>
                <c:pt idx="7">
                  <c:v>Goodwill Bonus</c:v>
                </c:pt>
              </c:strCache>
            </c:strRef>
          </c:cat>
          <c:val>
            <c:numRef>
              <c:f>'Posted Approved Pivot'!$C$4:$C$12</c:f>
              <c:numCache>
                <c:formatCode>General</c:formatCode>
                <c:ptCount val="8"/>
                <c:pt idx="0">
                  <c:v>296716.7</c:v>
                </c:pt>
                <c:pt idx="1">
                  <c:v>327132.19</c:v>
                </c:pt>
                <c:pt idx="2">
                  <c:v>1739609.9100000001</c:v>
                </c:pt>
                <c:pt idx="3">
                  <c:v>1981089.4</c:v>
                </c:pt>
                <c:pt idx="4">
                  <c:v>3982561.9849999999</c:v>
                </c:pt>
                <c:pt idx="5">
                  <c:v>3990629.5799999996</c:v>
                </c:pt>
                <c:pt idx="6">
                  <c:v>6809970.6800000006</c:v>
                </c:pt>
                <c:pt idx="7">
                  <c:v>12204724.860000001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759-4CC4-B7B5-A3D0942957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52"/>
        <c:axId val="1484376064"/>
        <c:axId val="1484377024"/>
      </c:barChart>
      <c:catAx>
        <c:axId val="14843760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4377024"/>
        <c:crosses val="autoZero"/>
        <c:auto val="1"/>
        <c:lblAlgn val="ctr"/>
        <c:lblOffset val="100"/>
        <c:noMultiLvlLbl val="0"/>
      </c:catAx>
      <c:valAx>
        <c:axId val="14843770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84376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[Aproved Posted OCC 11082026.xlsx]OCC Value &amp; Count Per Vertical!PivotTable23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'OCC Value &amp; Count Per Vertical'!$B$3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'OCC Value &amp; Count Per Vertical'!$A$4:$A$11</c:f>
              <c:strCache>
                <c:ptCount val="7"/>
                <c:pt idx="0">
                  <c:v>Key A</c:v>
                </c:pt>
                <c:pt idx="1">
                  <c:v>LE</c:v>
                </c:pt>
                <c:pt idx="2">
                  <c:v>Key B</c:v>
                </c:pt>
                <c:pt idx="3">
                  <c:v>AUH</c:v>
                </c:pt>
                <c:pt idx="4">
                  <c:v>DXB</c:v>
                </c:pt>
                <c:pt idx="5">
                  <c:v>F-NE</c:v>
                </c:pt>
                <c:pt idx="6">
                  <c:v>HUNT</c:v>
                </c:pt>
              </c:strCache>
            </c:strRef>
          </c:cat>
          <c:val>
            <c:numRef>
              <c:f>'OCC Value &amp; Count Per Vertical'!$B$4:$B$11</c:f>
              <c:numCache>
                <c:formatCode>General</c:formatCode>
                <c:ptCount val="7"/>
                <c:pt idx="0">
                  <c:v>9603409.6100000013</c:v>
                </c:pt>
                <c:pt idx="1">
                  <c:v>8342659.9250000007</c:v>
                </c:pt>
                <c:pt idx="2">
                  <c:v>7615365.7699999996</c:v>
                </c:pt>
                <c:pt idx="3">
                  <c:v>4383407.99</c:v>
                </c:pt>
                <c:pt idx="4">
                  <c:v>782483.87</c:v>
                </c:pt>
                <c:pt idx="5">
                  <c:v>389191.43999999994</c:v>
                </c:pt>
                <c:pt idx="6">
                  <c:v>215916.7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AC-4E75-89F0-625A9B633C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8"/>
        <c:overlap val="52"/>
        <c:axId val="49554832"/>
        <c:axId val="49553872"/>
      </c:barChart>
      <c:catAx>
        <c:axId val="49554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53872"/>
        <c:crosses val="autoZero"/>
        <c:auto val="1"/>
        <c:lblAlgn val="ctr"/>
        <c:lblOffset val="100"/>
        <c:noMultiLvlLbl val="0"/>
      </c:catAx>
      <c:valAx>
        <c:axId val="495538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9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[OCC - 2026.xlsx]Sheet6!PivotTable16</c:name>
    <c:fmtId val="10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6890529875546221"/>
          <c:y val="3.5680316622583468E-2"/>
          <c:w val="0.61773682563360743"/>
          <c:h val="0.928639366754833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Sheet6!$B$3</c:f>
              <c:strCache>
                <c:ptCount val="1"/>
                <c:pt idx="0">
                  <c:v>Count of Account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Sheet6!$A$4:$A$11</c:f>
              <c:strCache>
                <c:ptCount val="7"/>
                <c:pt idx="0">
                  <c:v>Discount Issue (BSCS/CRM)</c:v>
                </c:pt>
                <c:pt idx="1">
                  <c:v>Bulk SMS</c:v>
                </c:pt>
                <c:pt idx="2">
                  <c:v>Others</c:v>
                </c:pt>
                <c:pt idx="3">
                  <c:v>Goodwill Bonus</c:v>
                </c:pt>
                <c:pt idx="4">
                  <c:v>Agent Error</c:v>
                </c:pt>
                <c:pt idx="5">
                  <c:v>Rebate</c:v>
                </c:pt>
                <c:pt idx="6">
                  <c:v>Product Limitation in CRM</c:v>
                </c:pt>
              </c:strCache>
            </c:strRef>
          </c:cat>
          <c:val>
            <c:numRef>
              <c:f>Sheet6!$B$4:$B$11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37</c:v>
                </c:pt>
                <c:pt idx="4">
                  <c:v>4</c:v>
                </c:pt>
                <c:pt idx="5">
                  <c:v>9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0D-45DF-BBCB-BB266F8D3AF2}"/>
            </c:ext>
          </c:extLst>
        </c:ser>
        <c:ser>
          <c:idx val="1"/>
          <c:order val="1"/>
          <c:tx>
            <c:strRef>
              <c:f>Sheet6!$C$3</c:f>
              <c:strCache>
                <c:ptCount val="1"/>
                <c:pt idx="0">
                  <c:v>Sum of Total OCC Value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u Co Headline 16" panose="020B0603060202020204" pitchFamily="34" charset="0"/>
                    <a:ea typeface="+mn-ea"/>
                    <a:cs typeface="du Co Headline 16" panose="020B060306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Sheet6!$A$4:$A$11</c:f>
              <c:strCache>
                <c:ptCount val="7"/>
                <c:pt idx="0">
                  <c:v>Discount Issue (BSCS/CRM)</c:v>
                </c:pt>
                <c:pt idx="1">
                  <c:v>Bulk SMS</c:v>
                </c:pt>
                <c:pt idx="2">
                  <c:v>Others</c:v>
                </c:pt>
                <c:pt idx="3">
                  <c:v>Goodwill Bonus</c:v>
                </c:pt>
                <c:pt idx="4">
                  <c:v>Agent Error</c:v>
                </c:pt>
                <c:pt idx="5">
                  <c:v>Rebate</c:v>
                </c:pt>
                <c:pt idx="6">
                  <c:v>Product Limitation in CRM</c:v>
                </c:pt>
              </c:strCache>
            </c:strRef>
          </c:cat>
          <c:val>
            <c:numRef>
              <c:f>Sheet6!$C$4:$C$11</c:f>
              <c:numCache>
                <c:formatCode>General</c:formatCode>
                <c:ptCount val="7"/>
                <c:pt idx="0">
                  <c:v>230000</c:v>
                </c:pt>
                <c:pt idx="1">
                  <c:v>275091</c:v>
                </c:pt>
                <c:pt idx="2">
                  <c:v>352911.69999999995</c:v>
                </c:pt>
                <c:pt idx="3">
                  <c:v>774285.42</c:v>
                </c:pt>
                <c:pt idx="4">
                  <c:v>900539.03</c:v>
                </c:pt>
                <c:pt idx="5">
                  <c:v>2242317.7199999997</c:v>
                </c:pt>
                <c:pt idx="6">
                  <c:v>3779241.86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0D-45DF-BBCB-BB266F8D3A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7"/>
        <c:overlap val="100"/>
        <c:axId val="102093039"/>
        <c:axId val="102093455"/>
      </c:barChart>
      <c:catAx>
        <c:axId val="102093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093455"/>
        <c:crosses val="autoZero"/>
        <c:auto val="1"/>
        <c:lblAlgn val="ctr"/>
        <c:lblOffset val="100"/>
        <c:noMultiLvlLbl val="0"/>
      </c:catAx>
      <c:valAx>
        <c:axId val="102093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2093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[OCC - 2026.xlsx]Sheet6!PivotTable17</c:name>
    <c:fmtId val="1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0734509330811787E-2"/>
          <c:y val="7.3328228264423326E-2"/>
          <c:w val="0.93926549066918819"/>
          <c:h val="0.843268851164626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Sheet6!$B$19</c:f>
              <c:strCache>
                <c:ptCount val="1"/>
                <c:pt idx="0">
                  <c:v>Count of Account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Sheet6!$A$20:$A$27</c:f>
              <c:strCache>
                <c:ptCount val="7"/>
                <c:pt idx="0">
                  <c:v>DXB</c:v>
                </c:pt>
                <c:pt idx="1">
                  <c:v>LE</c:v>
                </c:pt>
                <c:pt idx="2">
                  <c:v>Key B</c:v>
                </c:pt>
                <c:pt idx="3">
                  <c:v>AUH</c:v>
                </c:pt>
                <c:pt idx="4">
                  <c:v>Key A</c:v>
                </c:pt>
                <c:pt idx="5">
                  <c:v>F-NE</c:v>
                </c:pt>
                <c:pt idx="6">
                  <c:v>HUNT</c:v>
                </c:pt>
              </c:strCache>
            </c:strRef>
          </c:cat>
          <c:val>
            <c:numRef>
              <c:f>Sheet6!$B$20:$B$27</c:f>
              <c:numCache>
                <c:formatCode>General</c:formatCode>
                <c:ptCount val="7"/>
                <c:pt idx="0">
                  <c:v>3</c:v>
                </c:pt>
                <c:pt idx="1">
                  <c:v>38</c:v>
                </c:pt>
                <c:pt idx="2">
                  <c:v>10</c:v>
                </c:pt>
                <c:pt idx="3">
                  <c:v>4</c:v>
                </c:pt>
                <c:pt idx="4">
                  <c:v>3</c:v>
                </c:pt>
                <c:pt idx="5">
                  <c:v>1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45-4909-B129-7022197A13DF}"/>
            </c:ext>
          </c:extLst>
        </c:ser>
        <c:ser>
          <c:idx val="1"/>
          <c:order val="1"/>
          <c:tx>
            <c:strRef>
              <c:f>Sheet6!$C$19</c:f>
              <c:strCache>
                <c:ptCount val="1"/>
                <c:pt idx="0">
                  <c:v>Sum of Total OCC Value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45-4909-B129-7022197A13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u Co Headline 16" panose="020B0603060202020204" pitchFamily="34" charset="0"/>
                    <a:ea typeface="+mn-ea"/>
                    <a:cs typeface="du Co Headline 16" panose="020B060306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Sheet6!$A$20:$A$27</c:f>
              <c:strCache>
                <c:ptCount val="7"/>
                <c:pt idx="0">
                  <c:v>DXB</c:v>
                </c:pt>
                <c:pt idx="1">
                  <c:v>LE</c:v>
                </c:pt>
                <c:pt idx="2">
                  <c:v>Key B</c:v>
                </c:pt>
                <c:pt idx="3">
                  <c:v>AUH</c:v>
                </c:pt>
                <c:pt idx="4">
                  <c:v>Key A</c:v>
                </c:pt>
                <c:pt idx="5">
                  <c:v>F-NE</c:v>
                </c:pt>
                <c:pt idx="6">
                  <c:v>HUNT</c:v>
                </c:pt>
              </c:strCache>
            </c:strRef>
          </c:cat>
          <c:val>
            <c:numRef>
              <c:f>Sheet6!$C$20:$C$27</c:f>
              <c:numCache>
                <c:formatCode>General</c:formatCode>
                <c:ptCount val="7"/>
                <c:pt idx="0">
                  <c:v>3996023.76</c:v>
                </c:pt>
                <c:pt idx="1">
                  <c:v>2987206.59</c:v>
                </c:pt>
                <c:pt idx="2">
                  <c:v>697708.2300000001</c:v>
                </c:pt>
                <c:pt idx="3">
                  <c:v>355265.13</c:v>
                </c:pt>
                <c:pt idx="4">
                  <c:v>281103.5</c:v>
                </c:pt>
                <c:pt idx="5">
                  <c:v>211111.52</c:v>
                </c:pt>
                <c:pt idx="6">
                  <c:v>25968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45-4909-B129-7022197A13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4"/>
        <c:overlap val="100"/>
        <c:axId val="1182583935"/>
        <c:axId val="1182590591"/>
      </c:barChart>
      <c:catAx>
        <c:axId val="11825839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2590591"/>
        <c:crosses val="autoZero"/>
        <c:auto val="1"/>
        <c:lblAlgn val="ctr"/>
        <c:lblOffset val="100"/>
        <c:noMultiLvlLbl val="0"/>
      </c:catAx>
      <c:valAx>
        <c:axId val="11825905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82583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Sheet3!$A$16:$A$17</c:f>
              <c:strCache>
                <c:ptCount val="2"/>
                <c:pt idx="0">
                  <c:v>&lt; 250,000</c:v>
                </c:pt>
                <c:pt idx="1">
                  <c:v>&gt; = 250,000</c:v>
                </c:pt>
              </c:strCache>
            </c:strRef>
          </c:cat>
          <c:val>
            <c:numRef>
              <c:f>Sheet3!$C$16:$C$17</c:f>
              <c:numCache>
                <c:formatCode>General</c:formatCode>
                <c:ptCount val="2"/>
                <c:pt idx="0">
                  <c:v>10266346.495000003</c:v>
                </c:pt>
                <c:pt idx="1">
                  <c:v>16943915.989999998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18-4B4B-8CDC-9193506B01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4743679"/>
        <c:axId val="714752415"/>
      </c:barChart>
      <c:catAx>
        <c:axId val="714743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752415"/>
        <c:crosses val="autoZero"/>
        <c:auto val="1"/>
        <c:lblAlgn val="ctr"/>
        <c:lblOffset val="100"/>
        <c:noMultiLvlLbl val="0"/>
      </c:catAx>
      <c:valAx>
        <c:axId val="714752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14743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B5-442B-9AD9-A552B0681DEC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B5-442B-9AD9-A552B0681DEC}"/>
              </c:ext>
            </c:extLst>
          </c:dPt>
          <c:val>
            <c:numRef>
              <c:f>Sheet8!$C$1:$D$1</c:f>
              <c:numCache>
                <c:formatCode>0%</c:formatCode>
                <c:ptCount val="2"/>
                <c:pt idx="0">
                  <c:v>0.34591194968553457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B5-442B-9AD9-A552B0681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6E-465A-BCE0-ABCD94F03B1C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6E-465A-BCE0-ABCD94F03B1C}"/>
              </c:ext>
            </c:extLst>
          </c:dPt>
          <c:val>
            <c:numRef>
              <c:f>Sheet8!$C$1:$D$1</c:f>
              <c:numCache>
                <c:formatCode>0%</c:formatCode>
                <c:ptCount val="2"/>
                <c:pt idx="0">
                  <c:v>0.34591194968553457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6E-465A-BCE0-ABCD94F03B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C724B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C1-4B8E-911F-7C75FAD98BCF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C1-4B8E-911F-7C75FAD98BCF}"/>
              </c:ext>
            </c:extLst>
          </c:dPt>
          <c:val>
            <c:numRef>
              <c:f>Sheet8!$C$3:$D$3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C1-4B8E-911F-7C75FAD98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'Handset Pivots'!$H$109</c:f>
              <c:strCache>
                <c:ptCount val="1"/>
                <c:pt idx="0">
                  <c:v>Sum of No of Handsets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7.4257425742574254E-3"/>
                  <c:y val="8.203323573316073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7D2-458C-8C57-B75C399785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'Handset Pivots'!$G$110:$G$116</c:f>
              <c:strCache>
                <c:ptCount val="7"/>
                <c:pt idx="0">
                  <c:v>LE</c:v>
                </c:pt>
                <c:pt idx="1">
                  <c:v>DXB</c:v>
                </c:pt>
                <c:pt idx="2">
                  <c:v>KEYA</c:v>
                </c:pt>
                <c:pt idx="3">
                  <c:v>KEYB</c:v>
                </c:pt>
                <c:pt idx="4">
                  <c:v>FNE</c:v>
                </c:pt>
                <c:pt idx="5">
                  <c:v>AUH</c:v>
                </c:pt>
                <c:pt idx="6">
                  <c:v>HUNT</c:v>
                </c:pt>
              </c:strCache>
            </c:strRef>
          </c:cat>
          <c:val>
            <c:numRef>
              <c:f>'Handset Pivots'!$H$110:$H$116</c:f>
              <c:numCache>
                <c:formatCode>_(* #,##0_);_(* \(#,##0\);_(* "-"??_);_(@_)</c:formatCode>
                <c:ptCount val="7"/>
                <c:pt idx="0">
                  <c:v>75</c:v>
                </c:pt>
                <c:pt idx="1">
                  <c:v>0</c:v>
                </c:pt>
                <c:pt idx="2">
                  <c:v>0</c:v>
                </c:pt>
                <c:pt idx="3">
                  <c:v>6</c:v>
                </c:pt>
                <c:pt idx="4">
                  <c:v>0</c:v>
                </c:pt>
                <c:pt idx="5">
                  <c:v>1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D2-458C-8C57-B75C39978552}"/>
            </c:ext>
          </c:extLst>
        </c:ser>
        <c:ser>
          <c:idx val="1"/>
          <c:order val="1"/>
          <c:tx>
            <c:strRef>
              <c:f>'Handset Pivots'!$I$109</c:f>
              <c:strCache>
                <c:ptCount val="1"/>
                <c:pt idx="0">
                  <c:v>Sum of Total OCC Value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D2-458C-8C57-B75C399785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u Co Headline 16" panose="020B0603060202020204" pitchFamily="34" charset="0"/>
                    <a:ea typeface="+mn-ea"/>
                    <a:cs typeface="du Co Headline 16" panose="020B060306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'Handset Pivots'!$G$110:$G$116</c:f>
              <c:strCache>
                <c:ptCount val="7"/>
                <c:pt idx="0">
                  <c:v>LE</c:v>
                </c:pt>
                <c:pt idx="1">
                  <c:v>DXB</c:v>
                </c:pt>
                <c:pt idx="2">
                  <c:v>KEYA</c:v>
                </c:pt>
                <c:pt idx="3">
                  <c:v>KEYB</c:v>
                </c:pt>
                <c:pt idx="4">
                  <c:v>FNE</c:v>
                </c:pt>
                <c:pt idx="5">
                  <c:v>AUH</c:v>
                </c:pt>
                <c:pt idx="6">
                  <c:v>HUNT</c:v>
                </c:pt>
              </c:strCache>
            </c:strRef>
          </c:cat>
          <c:val>
            <c:numRef>
              <c:f>'Handset Pivots'!$I$110:$I$116</c:f>
              <c:numCache>
                <c:formatCode>_(* #,##0_);_(* \(#,##0\);_(* "-"??_);_(@_)</c:formatCode>
                <c:ptCount val="7"/>
                <c:pt idx="0">
                  <c:v>567102</c:v>
                </c:pt>
                <c:pt idx="1">
                  <c:v>0</c:v>
                </c:pt>
                <c:pt idx="2">
                  <c:v>0</c:v>
                </c:pt>
                <c:pt idx="3">
                  <c:v>24280.95</c:v>
                </c:pt>
                <c:pt idx="4">
                  <c:v>0</c:v>
                </c:pt>
                <c:pt idx="5">
                  <c:v>3192</c:v>
                </c:pt>
                <c:pt idx="6">
                  <c:v>37968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D2-458C-8C57-B75C399785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213786272"/>
        <c:axId val="213783360"/>
      </c:barChart>
      <c:catAx>
        <c:axId val="21378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783360"/>
        <c:crosses val="autoZero"/>
        <c:auto val="1"/>
        <c:lblAlgn val="ctr"/>
        <c:lblOffset val="100"/>
        <c:noMultiLvlLbl val="0"/>
      </c:catAx>
      <c:valAx>
        <c:axId val="213783360"/>
        <c:scaling>
          <c:orientation val="minMax"/>
        </c:scaling>
        <c:delete val="1"/>
        <c:axPos val="l"/>
        <c:numFmt formatCode="_(* #,##0_);_(* \(#,##0\);_(* &quot;-&quot;??_);_(@_)" sourceLinked="1"/>
        <c:majorTickMark val="none"/>
        <c:minorTickMark val="none"/>
        <c:tickLblPos val="nextTo"/>
        <c:crossAx val="213786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OCC Dashboard V1.xlsx]Handset Pivots!PivotTable15</c:name>
    <c:fmtId val="6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227461172668778"/>
          <c:y val="4.9671605619540392E-2"/>
          <c:w val="0.66774072220680369"/>
          <c:h val="0.9006567887609192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'Handset Pivots'!$B$45</c:f>
              <c:strCache>
                <c:ptCount val="1"/>
                <c:pt idx="0">
                  <c:v>Sum of No of Handsets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'Handset Pivots'!$A$46:$A$59</c:f>
              <c:multiLvlStrCache>
                <c:ptCount val="12"/>
                <c:lvl>
                  <c:pt idx="0">
                    <c:v>Muhammad Nauman</c:v>
                  </c:pt>
                  <c:pt idx="1">
                    <c:v>Favas Kurinhilayil</c:v>
                  </c:pt>
                  <c:pt idx="2">
                    <c:v>Ahmed Shaddad</c:v>
                  </c:pt>
                  <c:pt idx="3">
                    <c:v>Ahmad Ozdamir</c:v>
                  </c:pt>
                  <c:pt idx="4">
                    <c:v>Ramy Abdel Fattah</c:v>
                  </c:pt>
                  <c:pt idx="5">
                    <c:v>Peter Sedrak</c:v>
                  </c:pt>
                  <c:pt idx="6">
                    <c:v>Ehab Hajou</c:v>
                  </c:pt>
                  <c:pt idx="7">
                    <c:v>Mohamed Mostafa</c:v>
                  </c:pt>
                  <c:pt idx="8">
                    <c:v>Khaled Abdelaziz</c:v>
                  </c:pt>
                  <c:pt idx="9">
                    <c:v>Shabbir Lacewala</c:v>
                  </c:pt>
                  <c:pt idx="10">
                    <c:v>Eslam Hassan</c:v>
                  </c:pt>
                  <c:pt idx="11">
                    <c:v>Mushahid Hussain Syed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'Handset Pivots'!$B$46:$B$59</c:f>
              <c:numCache>
                <c:formatCode>_(* #,##0_);_(* \(#,##0\);_(* "-"??_);_(@_)</c:formatCode>
                <c:ptCount val="12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9</c:v>
                </c:pt>
                <c:pt idx="8">
                  <c:v>10</c:v>
                </c:pt>
                <c:pt idx="9">
                  <c:v>13</c:v>
                </c:pt>
                <c:pt idx="10">
                  <c:v>13</c:v>
                </c:pt>
                <c:pt idx="1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68-4685-AB13-BFA4100DBD2A}"/>
            </c:ext>
          </c:extLst>
        </c:ser>
        <c:ser>
          <c:idx val="1"/>
          <c:order val="1"/>
          <c:tx>
            <c:strRef>
              <c:f>'Handset Pivots'!$C$45</c:f>
              <c:strCache>
                <c:ptCount val="1"/>
                <c:pt idx="0">
                  <c:v>Sum of Total OCC Value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F68-4685-AB13-BFA4100DBD2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u Co Headline 16" panose="020B0603060202020204" pitchFamily="34" charset="0"/>
                    <a:ea typeface="+mn-ea"/>
                    <a:cs typeface="du Co Headline 16" panose="020B060306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'Handset Pivots'!$A$46:$A$59</c:f>
              <c:multiLvlStrCache>
                <c:ptCount val="12"/>
                <c:lvl>
                  <c:pt idx="0">
                    <c:v>Muhammad Nauman</c:v>
                  </c:pt>
                  <c:pt idx="1">
                    <c:v>Favas Kurinhilayil</c:v>
                  </c:pt>
                  <c:pt idx="2">
                    <c:v>Ahmed Shaddad</c:v>
                  </c:pt>
                  <c:pt idx="3">
                    <c:v>Ahmad Ozdamir</c:v>
                  </c:pt>
                  <c:pt idx="4">
                    <c:v>Ramy Abdel Fattah</c:v>
                  </c:pt>
                  <c:pt idx="5">
                    <c:v>Peter Sedrak</c:v>
                  </c:pt>
                  <c:pt idx="6">
                    <c:v>Ehab Hajou</c:v>
                  </c:pt>
                  <c:pt idx="7">
                    <c:v>Mohamed Mostafa</c:v>
                  </c:pt>
                  <c:pt idx="8">
                    <c:v>Khaled Abdelaziz</c:v>
                  </c:pt>
                  <c:pt idx="9">
                    <c:v>Shabbir Lacewala</c:v>
                  </c:pt>
                  <c:pt idx="10">
                    <c:v>Eslam Hassan</c:v>
                  </c:pt>
                  <c:pt idx="11">
                    <c:v>Mushahid Hussain Syed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'Handset Pivots'!$C$46:$C$59</c:f>
              <c:numCache>
                <c:formatCode>_(* #,##0_);_(* \(#,##0\);_(* "-"??_);_(@_)</c:formatCode>
                <c:ptCount val="12"/>
                <c:pt idx="0">
                  <c:v>3192</c:v>
                </c:pt>
                <c:pt idx="1">
                  <c:v>13968</c:v>
                </c:pt>
                <c:pt idx="2">
                  <c:v>24000</c:v>
                </c:pt>
                <c:pt idx="3">
                  <c:v>26398</c:v>
                </c:pt>
                <c:pt idx="4">
                  <c:v>23000</c:v>
                </c:pt>
                <c:pt idx="5">
                  <c:v>30000</c:v>
                </c:pt>
                <c:pt idx="6">
                  <c:v>24280.95</c:v>
                </c:pt>
                <c:pt idx="7">
                  <c:v>46898</c:v>
                </c:pt>
                <c:pt idx="8">
                  <c:v>59760</c:v>
                </c:pt>
                <c:pt idx="9">
                  <c:v>72107</c:v>
                </c:pt>
                <c:pt idx="10">
                  <c:v>56939</c:v>
                </c:pt>
                <c:pt idx="11">
                  <c:v>252000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68-4685-AB13-BFA4100DBD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1256448"/>
        <c:axId val="201254368"/>
      </c:barChart>
      <c:catAx>
        <c:axId val="201256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254368"/>
        <c:crosses val="autoZero"/>
        <c:auto val="1"/>
        <c:lblAlgn val="ctr"/>
        <c:lblOffset val="100"/>
        <c:noMultiLvlLbl val="0"/>
      </c:catAx>
      <c:valAx>
        <c:axId val="201254368"/>
        <c:scaling>
          <c:orientation val="minMax"/>
        </c:scaling>
        <c:delete val="1"/>
        <c:axPos val="b"/>
        <c:numFmt formatCode="_(* #,##0_);_(* \(#,##0\);_(* &quot;-&quot;??_);_(@_)" sourceLinked="1"/>
        <c:majorTickMark val="none"/>
        <c:minorTickMark val="none"/>
        <c:tickLblPos val="nextTo"/>
        <c:crossAx val="201256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0.23068</cdr:x>
      <cdr:y>0.84128</cdr:y>
    </cdr:from>
    <cdr:to>
      <cdr:x>0.29531</cdr:x>
      <cdr:y>0.9084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FC6F17A-629B-4FE9-BC31-282F2A4FDEE1}"/>
            </a:ext>
          </a:extLst>
        </cdr:cNvPr>
        <cdr:cNvSpPr txBox="1"/>
      </cdr:nvSpPr>
      <cdr:spPr>
        <a:xfrm xmlns:a="http://schemas.openxmlformats.org/drawingml/2006/main">
          <a:off x="1483570" y="3391301"/>
          <a:ext cx="415671" cy="270582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solidFill>
                <a:schemeClr val="bg1"/>
              </a:solidFill>
            </a:rPr>
            <a:t>144</a:t>
          </a:r>
        </a:p>
      </cdr:txBody>
    </cdr:sp>
  </cdr:relSizeAnchor>
  <cdr:relSizeAnchor xmlns:cdr="http://schemas.openxmlformats.org/drawingml/2006/chartDrawing">
    <cdr:from>
      <cdr:x>0.71286</cdr:x>
      <cdr:y>0.84128</cdr:y>
    </cdr:from>
    <cdr:to>
      <cdr:x>0.7775</cdr:x>
      <cdr:y>0.9084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8F895972-0227-426C-AD0C-6973D31767C2}"/>
            </a:ext>
          </a:extLst>
        </cdr:cNvPr>
        <cdr:cNvSpPr txBox="1"/>
      </cdr:nvSpPr>
      <cdr:spPr>
        <a:xfrm xmlns:a="http://schemas.openxmlformats.org/drawingml/2006/main">
          <a:off x="4584606" y="3391301"/>
          <a:ext cx="415671" cy="270582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solidFill>
                <a:schemeClr val="bg1"/>
              </a:solidFill>
            </a:rPr>
            <a:t>14</a:t>
          </a:r>
        </a:p>
      </cdr:txBody>
    </cdr:sp>
  </cdr:relSizeAnchor>
  <cdr:relSizeAnchor xmlns:cdr="http://schemas.openxmlformats.org/drawingml/2006/chartDrawing">
    <cdr:from>
      <cdr:x>0.21097</cdr:x>
      <cdr:y>0.34483</cdr:y>
    </cdr:from>
    <cdr:to>
      <cdr:x>0.32057</cdr:x>
      <cdr:y>0.40397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51FB435D-8216-4F53-A9F4-5B5CAA181C32}"/>
            </a:ext>
          </a:extLst>
        </cdr:cNvPr>
        <cdr:cNvSpPr txBox="1"/>
      </cdr:nvSpPr>
      <cdr:spPr>
        <a:xfrm xmlns:a="http://schemas.openxmlformats.org/drawingml/2006/main">
          <a:off x="1356798" y="1390039"/>
          <a:ext cx="704897" cy="238424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50" dirty="0">
              <a:solidFill>
                <a:srgbClr val="002060"/>
              </a:solidFill>
              <a:latin typeface="du Co Headline 16" panose="020B0603060202020204" pitchFamily="34" charset="0"/>
              <a:cs typeface="du Co Headline 16" panose="020B0603060202020204" pitchFamily="34" charset="0"/>
            </a:rPr>
            <a:t> 28.4M</a:t>
          </a:r>
        </a:p>
      </cdr:txBody>
    </cdr:sp>
  </cdr:relSizeAnchor>
  <cdr:relSizeAnchor xmlns:cdr="http://schemas.openxmlformats.org/drawingml/2006/chartDrawing">
    <cdr:from>
      <cdr:x>0.68451</cdr:x>
      <cdr:y>0.03045</cdr:y>
    </cdr:from>
    <cdr:to>
      <cdr:x>0.7993</cdr:x>
      <cdr:y>0.09757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9C2625FC-307D-4B52-BF8A-28D777859438}"/>
            </a:ext>
          </a:extLst>
        </cdr:cNvPr>
        <cdr:cNvSpPr txBox="1"/>
      </cdr:nvSpPr>
      <cdr:spPr>
        <a:xfrm xmlns:a="http://schemas.openxmlformats.org/drawingml/2006/main">
          <a:off x="4402228" y="122732"/>
          <a:ext cx="738282" cy="270589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50" dirty="0">
              <a:solidFill>
                <a:srgbClr val="002060"/>
              </a:solidFill>
              <a:latin typeface="du Co Headline 16" panose="020B0603060202020204" pitchFamily="34" charset="0"/>
              <a:cs typeface="du Co Headline 16" panose="020B0603060202020204" pitchFamily="34" charset="0"/>
            </a:rPr>
            <a:t>16.9 M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1CACB-60A5-41BF-99D0-11B2E471AD4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33DFE-3339-4B61-9FA3-47C419D5C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8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6C991-0D65-4F5B-B72B-3432C155E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125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F0B4-D734-16B4-AC11-E63318AAF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803F-AAA6-C096-CCAA-F48B22862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B9E5F-501F-B23F-FC6F-F3B2070A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B009-6C3E-D454-2F2D-184A8A05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89A6D-6D77-5074-A15A-67CD0609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1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0899-37FB-D692-2FD7-D7EF028C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58139-09C3-4B7E-8589-1E0E463D0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9951C-458C-0578-AE25-8B995959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6B222-B84B-6B18-DBFE-3AA543F9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294D2-7B33-766E-110D-52FC2285F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3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EE17-C9DD-2DCE-6CE4-D5937F7A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9024F-5758-2ED8-A38D-75B075F96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9EB3-1A1D-E8D9-D908-9EF8D9E7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DE5E9-1866-5655-AB61-DFA8B9C0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2FB38-1577-A3F0-D47C-0088BD96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7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2B78-CE80-0005-A9CD-8AB0E44C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EA8B-9B0A-1D2A-54C0-642589930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0A8CD-87E7-DCBE-E145-626308CAA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6F69-BFF0-1AF3-C5DD-A88E9B8C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EFC11-9445-2457-DB3C-00F87611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3EF7-325F-FBB4-C53B-5850E14F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5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D02D-A730-447A-3359-6538D7FDC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84596-CE0D-CFC1-B59A-2A9FB7BE9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ACF78-BD61-02EA-886F-1203846B3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4DEE6-C3C8-7C16-4F20-FF5283E12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8A84E-805D-0555-DC98-79BD330EF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9F6CB-34AE-6D9E-F6A3-9D548F94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A10488-7AD4-B488-566D-575B7C1F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084D9-CAE6-A1A5-11B0-F2A5E75C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5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4B3C-4D2C-3F8A-5567-49E0F099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CF385-65EA-BF1C-91DF-4D210A76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D162C-08C3-A391-F6FC-5633E868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06532-07E1-430A-B13A-D057E641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4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FC0F7-7609-8374-EA39-267AE9DC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74E21-CEB7-8875-ABFD-3ABA44AD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5D38-56B9-B836-1EA8-0C3C50F9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ADBF-3EBE-8CD6-774D-AA8CC299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B4E3-3918-4452-21D9-C4D5E5ADE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1D9E8-C214-84E8-8DFB-5A7EA529A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7CDB2-C679-4740-9A99-F7F1EF25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88F44-8517-98BD-DB48-0AC0F65C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9C33C-8907-4375-6AE8-E00061F3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8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A1C7-D93F-87BD-BE9E-02FC0F0F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7143C8-3FF1-E581-6673-FEF4A98E2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C6AFF-41F1-F5AB-86E3-EF51857A2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FD495-3EE5-18FC-BBFD-51371B8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2BF3A-791B-10EA-6C2B-BA18CF19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2813D-EB13-9E49-4D05-5A80024F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96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BC684-315A-91BE-A17F-7CFCD1C4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A0AB9-58F3-70CD-0631-58BCE75BF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5482B-F1C0-1FA7-77D9-314F2D11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C46A-22C3-E768-94FB-D7930DF5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38C5E-2810-52B7-6761-B224EFDA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4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918A90-0975-30A0-9B5F-465E86A62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9AF24-4502-0929-66C7-C338A3FE9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A3320-02FE-AAA7-0842-FA89BFE9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80F4E-A3C4-A366-5206-39DCD5F4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6FB30-E58B-FFFA-8E0A-F592FC3B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35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du Busines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9619D8F-3B06-651F-74E3-D381D0A239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7B75AF-979E-C32A-54F2-3FFA4EDF950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92200" y="1410071"/>
            <a:ext cx="7707600" cy="233640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EF7CA-2B93-6BC0-95F2-6AB97A00A9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2200" y="3908162"/>
            <a:ext cx="5281200" cy="7632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400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Place subtitle here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85F6-AC64-FC26-E8F8-3134045B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2200" y="5598334"/>
            <a:ext cx="5281200" cy="324000"/>
          </a:xfrm>
        </p:spPr>
        <p:txBody>
          <a:bodyPr anchor="b" anchorCtr="0"/>
          <a:lstStyle>
            <a:lvl1pPr algn="l">
              <a:defRPr sz="1400" spc="0" baseline="0"/>
            </a:lvl1pPr>
          </a:lstStyle>
          <a:p>
            <a:fld id="{FE942CEC-276B-4A0E-9C71-C729096A1E76}" type="datetime4">
              <a:rPr lang="en-GB" smtClean="0"/>
              <a:t>12 August 2026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FE5606-1983-D7F0-7E12-359899338B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2200" y="4909847"/>
            <a:ext cx="5281200" cy="763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pc="0" baseline="0"/>
            </a:lvl1pPr>
          </a:lstStyle>
          <a:p>
            <a:pPr lvl="0"/>
            <a:r>
              <a:rPr lang="en-US"/>
              <a:t>Presenter / Event Details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D94822-A2D5-0076-4F9B-F0BBB1085C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9040" y="404813"/>
            <a:ext cx="2354973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91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8463-D63E-32E7-7321-8DAF8377F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7063" y="1808162"/>
            <a:ext cx="2844000" cy="6588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GB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99D35-7085-88A7-71EC-EC018275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C4847-3867-B949-05FC-0C26184E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4EDE-60E7-0641-97B3-C7374672FF8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5BA2058-010A-53AF-B12F-3A5AE5FDFD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5897" y="1808162"/>
            <a:ext cx="2289600" cy="91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spc="50" baseline="0"/>
            </a:lvl1pPr>
          </a:lstStyle>
          <a:p>
            <a:pPr lvl="0"/>
            <a:r>
              <a:rPr lang="en-US"/>
              <a:t>Place agenda </a:t>
            </a:r>
            <a:br>
              <a:rPr lang="en-US"/>
            </a:br>
            <a:r>
              <a:rPr lang="en-US"/>
              <a:t>item here lorem ipsum dolor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3E6E773-F6E2-AF5B-63A5-CA553DDD66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5897" y="3240616"/>
            <a:ext cx="2289600" cy="91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spc="50" baseline="0"/>
            </a:lvl1pPr>
          </a:lstStyle>
          <a:p>
            <a:pPr lvl="0"/>
            <a:r>
              <a:rPr lang="en-US"/>
              <a:t>Place agenda </a:t>
            </a:r>
            <a:br>
              <a:rPr lang="en-US"/>
            </a:br>
            <a:r>
              <a:rPr lang="en-US"/>
              <a:t>item here lorem ipsum dolor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A0A2C09-E2A3-CBB2-746E-60F810F5E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5897" y="4673069"/>
            <a:ext cx="2289600" cy="91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spc="50" baseline="0"/>
            </a:lvl1pPr>
          </a:lstStyle>
          <a:p>
            <a:pPr lvl="0"/>
            <a:r>
              <a:rPr lang="en-US"/>
              <a:t>Place agenda </a:t>
            </a:r>
            <a:br>
              <a:rPr lang="en-US"/>
            </a:br>
            <a:r>
              <a:rPr lang="en-US"/>
              <a:t>item here lorem ipsum dolor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1BA4B4F-AEDC-E05A-1958-F2E4FA3EC0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47453" y="1808162"/>
            <a:ext cx="2289600" cy="91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spc="50" baseline="0"/>
            </a:lvl1pPr>
          </a:lstStyle>
          <a:p>
            <a:pPr lvl="0"/>
            <a:r>
              <a:rPr lang="en-US"/>
              <a:t>Place agenda </a:t>
            </a:r>
            <a:br>
              <a:rPr lang="en-US"/>
            </a:br>
            <a:r>
              <a:rPr lang="en-US"/>
              <a:t>item here lorem ipsum dolor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52AFD65D-2491-0CA7-B123-F8D710AA3C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47453" y="3240616"/>
            <a:ext cx="2289600" cy="91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spc="50" baseline="0"/>
            </a:lvl1pPr>
          </a:lstStyle>
          <a:p>
            <a:pPr lvl="0"/>
            <a:r>
              <a:rPr lang="en-US"/>
              <a:t>Place agenda </a:t>
            </a:r>
            <a:br>
              <a:rPr lang="en-US"/>
            </a:br>
            <a:r>
              <a:rPr lang="en-US"/>
              <a:t>item here lorem ipsum dolor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D68C9411-BD00-5526-7032-D4A0D55D7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47453" y="4673069"/>
            <a:ext cx="2289600" cy="91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spc="50" baseline="0"/>
            </a:lvl1pPr>
          </a:lstStyle>
          <a:p>
            <a:pPr lvl="0"/>
            <a:r>
              <a:rPr lang="en-US"/>
              <a:t>Place agenda </a:t>
            </a:r>
            <a:br>
              <a:rPr lang="en-US"/>
            </a:br>
            <a:r>
              <a:rPr lang="en-US"/>
              <a:t>item here lorem ipsum dolor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065F0199-A4AB-3CB2-07E5-8AFEF3F87D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1063" y="1767522"/>
            <a:ext cx="604800" cy="46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3200" spc="0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FECC4A2A-E49D-27BA-72C4-5B67107470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1063" y="3199483"/>
            <a:ext cx="604800" cy="46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3200" spc="0" baseline="0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A59A065D-ABDD-6B0B-13F6-54D0AF2E6A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1063" y="4631936"/>
            <a:ext cx="604800" cy="46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3200" spc="0" baseline="0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5FA62B-B22B-2400-F3A1-E2D74BD99E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32458" y="1767522"/>
            <a:ext cx="604800" cy="46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3200" spc="0" baseline="0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223E1E59-960F-7533-7E26-7CFEA11A81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32458" y="3199483"/>
            <a:ext cx="604800" cy="46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3200" spc="0" baseline="0"/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1BA83D7B-AEA4-5615-A228-6781A9254D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32458" y="4631936"/>
            <a:ext cx="604800" cy="4644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3200" spc="0" baseline="0"/>
            </a:lvl1pPr>
          </a:lstStyle>
          <a:p>
            <a:pPr lvl="0"/>
            <a:r>
              <a:rPr lang="en-US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41047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Page du Busines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A555077-804F-1BDC-FBE7-7CBEC32360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105766-F587-6A21-5A86-205FE246F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3269510"/>
            <a:ext cx="52812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72C7799-BF52-642A-9D8C-0CEF6557E5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3269511"/>
            <a:ext cx="4932000" cy="2653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/>
            </a:lvl1pPr>
          </a:lstStyle>
          <a:p>
            <a:pPr lvl="0"/>
            <a:r>
              <a:rPr lang="en-US"/>
              <a:t>Optional details here</a:t>
            </a:r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432F9EF-7BE5-0389-3298-304DC6DB11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987" y="404813"/>
            <a:ext cx="2354973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1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CA85168-D4AB-6440-B50D-18E32D5719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4227" y="1539553"/>
            <a:ext cx="3257551" cy="485315"/>
          </a:xfrm>
          <a:prstGeom prst="rect">
            <a:avLst/>
          </a:prstGeom>
        </p:spPr>
        <p:txBody>
          <a:bodyPr anchor="ctr"/>
          <a:lstStyle>
            <a:lvl1pPr marL="33866" marR="0" indent="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 lang="en-GB" sz="2400" b="0" i="0" smtClean="0">
                <a:effectLst/>
                <a:latin typeface="du Co Headline 16" panose="020B0603060202020204" pitchFamily="34" charset="0"/>
                <a:cs typeface="du Co Headline 16" panose="020B0603060202020204" pitchFamily="34" charset="0"/>
              </a:defRPr>
            </a:lvl1pPr>
            <a:lvl2pPr marL="380990" marR="0" indent="-380990" algn="l" rt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lang="en-GB" sz="1867" b="0" i="0" u="none" strike="noStrike" cap="none" baseline="30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234D2865-864E-0545-9E3E-53309CC243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4227" y="2125887"/>
            <a:ext cx="3257551" cy="2449925"/>
          </a:xfrm>
          <a:prstGeom prst="rect">
            <a:avLst/>
          </a:prstGeom>
        </p:spPr>
        <p:txBody>
          <a:bodyPr/>
          <a:lstStyle>
            <a:lvl1pPr marL="33866" marR="0" indent="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None/>
              <a:tabLst/>
              <a:defRPr lang="en-GB" sz="1333" b="0" i="0" smtClean="0">
                <a:effectLst/>
                <a:latin typeface="du Co Headline 16 Light" panose="020B0503060202020204" pitchFamily="34" charset="0"/>
                <a:cs typeface="du Co Headline 16" panose="020B0603060202020204" pitchFamily="34" charset="0"/>
              </a:defRPr>
            </a:lvl1pPr>
            <a:lvl2pPr marL="380990" marR="0" indent="-380990" algn="l" rt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lang="en-GB" sz="1867" b="0" i="0" u="none" strike="noStrike" cap="none" baseline="30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</a:lstStyle>
          <a:p>
            <a:pPr lvl="0"/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  <a:p>
            <a:pPr marL="414856" marR="0" lvl="0" indent="-38099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  <a:p>
            <a:pPr marL="414856" marR="0" lvl="0" indent="-38099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F4D07CA-0302-B748-87FD-434E952915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226" y="1539553"/>
            <a:ext cx="3257551" cy="485315"/>
          </a:xfrm>
          <a:prstGeom prst="rect">
            <a:avLst/>
          </a:prstGeom>
        </p:spPr>
        <p:txBody>
          <a:bodyPr anchor="ctr"/>
          <a:lstStyle>
            <a:lvl1pPr marL="33866" marR="0" indent="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 lang="en-GB" sz="2400" b="0" i="0" smtClean="0">
                <a:effectLst/>
                <a:latin typeface="du Co Headline 16" panose="020B0603060202020204" pitchFamily="34" charset="0"/>
                <a:cs typeface="du Co Headline 16" panose="020B0603060202020204" pitchFamily="34" charset="0"/>
              </a:defRPr>
            </a:lvl1pPr>
            <a:lvl2pPr marL="380990" marR="0" indent="-380990" algn="l" rt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lang="en-GB" sz="1867" b="0" i="0" u="none" strike="noStrike" cap="none" baseline="30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D9788B6-B62B-D848-87CB-4F2DA61E4F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226" y="2125887"/>
            <a:ext cx="3257551" cy="2449925"/>
          </a:xfrm>
          <a:prstGeom prst="rect">
            <a:avLst/>
          </a:prstGeom>
        </p:spPr>
        <p:txBody>
          <a:bodyPr/>
          <a:lstStyle>
            <a:lvl1pPr marL="33866" marR="0" indent="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None/>
              <a:tabLst/>
              <a:defRPr lang="en-GB" sz="1333" b="0" i="0" smtClean="0">
                <a:effectLst/>
                <a:latin typeface="du Co Headline 16 Light" panose="020B0503060202020204" pitchFamily="34" charset="0"/>
                <a:cs typeface="du Co Headline 16" panose="020B0603060202020204" pitchFamily="34" charset="0"/>
              </a:defRPr>
            </a:lvl1pPr>
            <a:lvl2pPr marL="380990" marR="0" indent="-380990" algn="l" rt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lang="en-GB" sz="1867" b="0" i="0" u="none" strike="noStrike" cap="none" baseline="30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</a:lstStyle>
          <a:p>
            <a:pPr lvl="0"/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  <a:p>
            <a:pPr marL="414856" marR="0" lvl="0" indent="-38099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  <a:p>
            <a:pPr marL="414856" marR="0" lvl="0" indent="-38099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00B948D-4D8D-4C43-B218-4B8D6CC198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0225" y="1539553"/>
            <a:ext cx="3257551" cy="485315"/>
          </a:xfrm>
          <a:prstGeom prst="rect">
            <a:avLst/>
          </a:prstGeom>
        </p:spPr>
        <p:txBody>
          <a:bodyPr anchor="ctr"/>
          <a:lstStyle>
            <a:lvl1pPr marL="33866" marR="0" indent="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 lang="en-GB" sz="2400" b="0" i="0" smtClean="0">
                <a:effectLst/>
                <a:latin typeface="du Co Headline 16" panose="020B0603060202020204" pitchFamily="34" charset="0"/>
                <a:cs typeface="du Co Headline 16" panose="020B0603060202020204" pitchFamily="34" charset="0"/>
              </a:defRPr>
            </a:lvl1pPr>
            <a:lvl2pPr marL="380990" marR="0" indent="-380990" algn="l" rt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lang="en-GB" sz="1867" b="0" i="0" u="none" strike="noStrike" cap="none" baseline="30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2506531-78C6-F34B-BC75-0A5F800464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0225" y="2125887"/>
            <a:ext cx="3257551" cy="2449925"/>
          </a:xfrm>
          <a:prstGeom prst="rect">
            <a:avLst/>
          </a:prstGeom>
        </p:spPr>
        <p:txBody>
          <a:bodyPr/>
          <a:lstStyle>
            <a:lvl1pPr marL="33866" marR="0" indent="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None/>
              <a:tabLst/>
              <a:defRPr lang="en-GB" sz="1333" b="0" i="0" smtClean="0">
                <a:effectLst/>
                <a:latin typeface="du Co Headline 16 Light" panose="020B0503060202020204" pitchFamily="34" charset="0"/>
                <a:cs typeface="du Co Headline 16" panose="020B0603060202020204" pitchFamily="34" charset="0"/>
              </a:defRPr>
            </a:lvl1pPr>
            <a:lvl2pPr marL="380990" marR="0" indent="-380990" algn="l" rt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lang="en-GB" sz="1867" b="0" i="0" u="none" strike="noStrike" cap="none" baseline="30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</a:lstStyle>
          <a:p>
            <a:pPr lvl="0"/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  <a:p>
            <a:pPr marL="414856" marR="0" lvl="0" indent="-38099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  <a:p>
            <a:pPr marL="414856" marR="0" lvl="0" indent="-380990" algn="l" defTabSz="1219170" rtl="0" eaLnBrk="1" fontAlgn="auto" latinLnBrk="0" hangingPunct="1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Curabitur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porttitor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,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orci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et comodo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tincidunt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dolor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sit </a:t>
            </a:r>
            <a:r>
              <a:rPr lang="en-GB" dirty="0" err="1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amet</a:t>
            </a:r>
            <a:r>
              <a:rPr lang="en-GB" dirty="0">
                <a:solidFill>
                  <a:srgbClr val="323232"/>
                </a:solidFill>
                <a:effectLst/>
                <a:latin typeface="Calibri Light" panose="020F0302020204030204" pitchFamily="34" charset="0"/>
              </a:rPr>
              <a:t> lorem ipsum. </a:t>
            </a:r>
          </a:p>
        </p:txBody>
      </p:sp>
      <p:sp>
        <p:nvSpPr>
          <p:cNvPr id="22" name="Title Placeholder 12">
            <a:extLst>
              <a:ext uri="{FF2B5EF4-FFF2-40B4-BE49-F238E27FC236}">
                <a16:creationId xmlns:a16="http://schemas.microsoft.com/office/drawing/2014/main" id="{C4724A2B-4859-B545-AB4A-09448169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54403"/>
            <a:ext cx="10043045" cy="662517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Standard slide title</a:t>
            </a:r>
          </a:p>
        </p:txBody>
      </p:sp>
    </p:spTree>
    <p:extLst>
      <p:ext uri="{BB962C8B-B14F-4D97-AF65-F5344CB8AC3E}">
        <p14:creationId xmlns:p14="http://schemas.microsoft.com/office/powerpoint/2010/main" val="2565630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5"/>
            <a:ext cx="11582400" cy="803275"/>
          </a:xfrm>
          <a:prstGeom prst="round2SameRect">
            <a:avLst>
              <a:gd name="adj1" fmla="val 0"/>
              <a:gd name="adj2" fmla="val 22736"/>
            </a:avLst>
          </a:prstGeom>
          <a:solidFill>
            <a:schemeClr val="accent1"/>
          </a:solidFill>
        </p:spPr>
        <p:txBody>
          <a:bodyPr vert="horz" lIns="91440" tIns="274320" rIns="1188720" bIns="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du Regular Co 2016" panose="020B0603060202020204" pitchFamily="34" charset="0"/>
                <a:cs typeface="du Regular Co 2016" panose="020B060306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" name="Logo"/>
          <p:cNvSpPr>
            <a:spLocks noGrp="1"/>
          </p:cNvSpPr>
          <p:nvPr>
            <p:ph type="body" sz="quarter" idx="14"/>
          </p:nvPr>
        </p:nvSpPr>
        <p:spPr>
          <a:xfrm>
            <a:off x="10731253" y="101280"/>
            <a:ext cx="1155951" cy="579805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2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51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51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690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22221-A149-1F8B-71C1-3A61DCDE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8F2B7-469F-D04A-535D-666584B9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4EDE-60E7-0641-97B3-C7374672FF8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393E3F2-7CB4-8575-0CF3-4699AB6C4FD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9" y="3428999"/>
            <a:ext cx="4267200" cy="241300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8C7D47E7-EC61-B96E-A84E-CC688636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12875"/>
            <a:ext cx="4267200" cy="100806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Place headline here lorem ipsum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A787053-06BC-F962-1769-00CB0CEA79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5188" y="1412875"/>
            <a:ext cx="7108825" cy="4429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5E5173D5-3DB4-3724-8515-90022366AD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8" y="2240937"/>
            <a:ext cx="4266000" cy="180000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1800"/>
            </a:lvl1pPr>
          </a:lstStyle>
          <a:p>
            <a:pPr lvl="0"/>
            <a:r>
              <a:rPr lang="en-US"/>
              <a:t>Place optional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26820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4F47B-A247-02B8-255F-7F5CC1A0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01C8A-2345-0343-EDA4-90241DFE4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080E3-3D95-BD03-DDC8-41E5DE402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306DC-017D-445A-9E18-6FC63901F2B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9DE40-C35D-F010-A34E-E9F108B29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867B5-C014-159A-DC25-93BC5EC06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1CC76-08A4-489F-BDF1-304378363B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2066367414,&quot;Placement&quot;:&quot;Footer&quot;,&quot;Top&quot;:519.343,&quot;Left&quot;:352.709442,&quot;SlideWidth&quot;:960,&quot;SlideHeight&quot;:540}">
            <a:extLst>
              <a:ext uri="{FF2B5EF4-FFF2-40B4-BE49-F238E27FC236}">
                <a16:creationId xmlns:a16="http://schemas.microsoft.com/office/drawing/2014/main" id="{6C1962C9-D686-4D0E-BDBC-0BADC02E1BF2}"/>
              </a:ext>
            </a:extLst>
          </p:cNvPr>
          <p:cNvSpPr txBox="1"/>
          <p:nvPr userDrawn="1"/>
        </p:nvSpPr>
        <p:spPr>
          <a:xfrm>
            <a:off x="4479410" y="6595656"/>
            <a:ext cx="323318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Calibri" panose="020F0502020204030204" pitchFamily="34" charset="0"/>
              </a:rPr>
              <a:t>Internal: Can be shared for internal communication (du)</a:t>
            </a:r>
          </a:p>
        </p:txBody>
      </p:sp>
    </p:spTree>
    <p:extLst>
      <p:ext uri="{BB962C8B-B14F-4D97-AF65-F5344CB8AC3E}">
        <p14:creationId xmlns:p14="http://schemas.microsoft.com/office/powerpoint/2010/main" val="305138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chart" Target="../charts/chart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1DBECE1-D452-4237-8FD5-FF883046F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199" y="1410071"/>
            <a:ext cx="10122647" cy="2336400"/>
          </a:xfrm>
        </p:spPr>
        <p:txBody>
          <a:bodyPr/>
          <a:lstStyle/>
          <a:p>
            <a:pPr marL="0" indent="0">
              <a:buNone/>
            </a:pPr>
            <a:r>
              <a:rPr lang="en-US" sz="5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OCCs</a:t>
            </a:r>
            <a:br>
              <a:rPr lang="en-US" sz="5400" dirty="0">
                <a:latin typeface="du Co Headline 16" panose="020B0603060202020204" pitchFamily="34" charset="0"/>
                <a:cs typeface="du Co Headline 16" panose="020B0603060202020204" pitchFamily="34" charset="0"/>
              </a:rPr>
            </a:br>
            <a:r>
              <a:rPr lang="en-US" sz="5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Posted/ Approved for 2026</a:t>
            </a:r>
            <a:endParaRPr lang="en-US" dirty="0">
              <a:latin typeface="du Co Headline 16" panose="020B0603060202020204" pitchFamily="34" charset="0"/>
              <a:cs typeface="du Co Headline 16" panose="020B0603060202020204" pitchFamily="34" charset="0"/>
            </a:endParaRPr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334A2978-9A9C-4EE8-8DB2-6976081D68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GLK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2A9C19-C0BA-4977-A269-DC8823623C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2200" y="5149049"/>
            <a:ext cx="2663054" cy="523998"/>
          </a:xfrm>
        </p:spPr>
        <p:txBody>
          <a:bodyPr>
            <a:normAutofit/>
          </a:bodyPr>
          <a:lstStyle/>
          <a:p>
            <a:r>
              <a:rPr lang="en-US" dirty="0"/>
              <a:t>Week 33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A23EB9-5067-4105-ADB9-76AA639D9B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664575" y="6453188"/>
            <a:ext cx="3527425" cy="404812"/>
          </a:xfrm>
        </p:spPr>
        <p:txBody>
          <a:bodyPr/>
          <a:lstStyle/>
          <a:p>
            <a:r>
              <a:rPr lang="en-US"/>
              <a:t>Copyright 2024.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FB893-3990-4A33-AA92-E6556EE859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6350" y="6453188"/>
            <a:ext cx="755650" cy="404812"/>
          </a:xfrm>
        </p:spPr>
        <p:txBody>
          <a:bodyPr/>
          <a:lstStyle/>
          <a:p>
            <a:fld id="{92824EDE-60E7-0641-97B3-C7374672FF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2AE9C0-2190-DD03-0227-8DA46D7B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9" y="1149362"/>
            <a:ext cx="2844000" cy="6588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06D8F-EC6E-28BF-F3C7-4C402B6E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u Co Headline 16 Light"/>
                <a:ea typeface="+mn-ea"/>
                <a:cs typeface="+mn-cs"/>
              </a:rPr>
              <a:t>Copyright 2024.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01007-07FA-33D7-A1E3-C5E2CEB9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24EDE-60E7-0641-97B3-C7374672FF82}" type="slidenum">
              <a:rPr kumimoji="0" 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u Co Headline 16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u Co Headline 16 Light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A24730-C736-45E9-B3F3-02CDC11C6A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8712" y="1823154"/>
            <a:ext cx="4381148" cy="4955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du Co Headline 16" panose="020B0603060202020204" pitchFamily="34" charset="0"/>
                <a:cs typeface="du Co Headline 16" panose="020B0603060202020204" pitchFamily="34" charset="0"/>
                <a:sym typeface="Arimo"/>
              </a:rPr>
              <a:t>Approved/ Posted OCC’s </a:t>
            </a:r>
            <a:endParaRPr lang="en-US" sz="2400" dirty="0">
              <a:latin typeface="du Co Headline 16" panose="020B0603060202020204" pitchFamily="34" charset="0"/>
              <a:cs typeface="du Co Headline 16" panose="020B060306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7AB70E-5EDC-D410-7863-C8D51FE992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8712" y="2883611"/>
            <a:ext cx="4578968" cy="58776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Pending OCCs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1B63A5-99C4-A351-E814-CDFEF80F2D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8712" y="4020333"/>
            <a:ext cx="4726288" cy="58776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Category Per Approval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55CE3AF-4B52-21B2-F64E-5439CD8518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3912" y="1858961"/>
            <a:ext cx="604800" cy="464400"/>
          </a:xfrm>
        </p:spPr>
        <p:txBody>
          <a:bodyPr>
            <a:noAutofit/>
          </a:bodyPr>
          <a:lstStyle/>
          <a:p>
            <a:r>
              <a:rPr lang="en-GB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01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80B2E73-6DB2-93C2-12B7-BBD976167DA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93912" y="2891542"/>
            <a:ext cx="604800" cy="464400"/>
          </a:xfrm>
        </p:spPr>
        <p:txBody>
          <a:bodyPr>
            <a:noAutofit/>
          </a:bodyPr>
          <a:lstStyle/>
          <a:p>
            <a:r>
              <a:rPr lang="en-GB" sz="2400">
                <a:latin typeface="du Co Headline 16" panose="020B0603060202020204" pitchFamily="34" charset="0"/>
                <a:cs typeface="du Co Headline 16" panose="020B0603060202020204" pitchFamily="34" charset="0"/>
              </a:rPr>
              <a:t>02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266EA24-F64E-80D6-CB54-922E94F799A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93912" y="4027046"/>
            <a:ext cx="604800" cy="464400"/>
          </a:xfrm>
        </p:spPr>
        <p:txBody>
          <a:bodyPr>
            <a:noAutofit/>
          </a:bodyPr>
          <a:lstStyle/>
          <a:p>
            <a:r>
              <a:rPr lang="en-GB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03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574C18C-6AB3-47EF-B882-78CBA0275D71}"/>
              </a:ext>
            </a:extLst>
          </p:cNvPr>
          <p:cNvSpPr txBox="1">
            <a:spLocks/>
          </p:cNvSpPr>
          <p:nvPr/>
        </p:nvSpPr>
        <p:spPr>
          <a:xfrm>
            <a:off x="4193912" y="5014119"/>
            <a:ext cx="604800" cy="46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04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CF05680-A6E3-443B-8CC8-E4E5A49A5645}"/>
              </a:ext>
            </a:extLst>
          </p:cNvPr>
          <p:cNvSpPr txBox="1">
            <a:spLocks/>
          </p:cNvSpPr>
          <p:nvPr/>
        </p:nvSpPr>
        <p:spPr>
          <a:xfrm>
            <a:off x="4798712" y="5009924"/>
            <a:ext cx="3938513" cy="58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Internal SLA 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5F35EFE-B65F-4AB0-AC81-D1F3773428BD}"/>
              </a:ext>
            </a:extLst>
          </p:cNvPr>
          <p:cNvSpPr txBox="1">
            <a:spLocks/>
          </p:cNvSpPr>
          <p:nvPr/>
        </p:nvSpPr>
        <p:spPr>
          <a:xfrm>
            <a:off x="4193912" y="5830674"/>
            <a:ext cx="604800" cy="46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04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792D7F2-50FB-4C2E-85F1-23849D6123EE}"/>
              </a:ext>
            </a:extLst>
          </p:cNvPr>
          <p:cNvSpPr txBox="1">
            <a:spLocks/>
          </p:cNvSpPr>
          <p:nvPr/>
        </p:nvSpPr>
        <p:spPr>
          <a:xfrm>
            <a:off x="4798712" y="5826479"/>
            <a:ext cx="3938513" cy="58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du Co Headline 16" panose="020B0603060202020204" pitchFamily="34" charset="0"/>
                <a:cs typeface="du Co Headline 16" panose="020B0603060202020204" pitchFamily="34" charset="0"/>
              </a:rPr>
              <a:t>Handset Journey </a:t>
            </a:r>
          </a:p>
        </p:txBody>
      </p:sp>
    </p:spTree>
    <p:extLst>
      <p:ext uri="{BB962C8B-B14F-4D97-AF65-F5344CB8AC3E}">
        <p14:creationId xmlns:p14="http://schemas.microsoft.com/office/powerpoint/2010/main" val="3128445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D5EC57-452B-948A-D357-2E2E7A0F49D3}"/>
              </a:ext>
            </a:extLst>
          </p:cNvPr>
          <p:cNvGrpSpPr/>
          <p:nvPr/>
        </p:nvGrpSpPr>
        <p:grpSpPr>
          <a:xfrm>
            <a:off x="-31215" y="0"/>
            <a:ext cx="12254430" cy="6912677"/>
            <a:chOff x="60150" y="44688"/>
            <a:chExt cx="9083850" cy="51845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5C8E42-D7BF-AE5A-902B-C174B2943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44688"/>
              <a:ext cx="9083850" cy="268918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D7AD5BE-E62A-6E01-55C7-FF8223A1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2632221"/>
              <a:ext cx="9083850" cy="259697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4EE2FBE-45C8-EF9D-6603-6F03E8866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784" y="0"/>
            <a:ext cx="1728216" cy="7208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3B887A9-99DA-CDC5-436A-42DEEC8F16C4}"/>
              </a:ext>
            </a:extLst>
          </p:cNvPr>
          <p:cNvSpPr txBox="1">
            <a:spLocks/>
          </p:cNvSpPr>
          <p:nvPr/>
        </p:nvSpPr>
        <p:spPr>
          <a:xfrm>
            <a:off x="379984" y="280956"/>
            <a:ext cx="10083800" cy="4398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cs typeface="du Co Headline 16" panose="020B0603060202020204" pitchFamily="34" charset="0"/>
              </a:rPr>
              <a:t>OCCs Posted/ Approved Monthly 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43AF96-9262-5022-9B6E-5B56874AD0C1}"/>
              </a:ext>
            </a:extLst>
          </p:cNvPr>
          <p:cNvSpPr/>
          <p:nvPr/>
        </p:nvSpPr>
        <p:spPr>
          <a:xfrm>
            <a:off x="560439" y="1061884"/>
            <a:ext cx="11366090" cy="55151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6203FA-1F0E-BEFE-CD5F-61D7E3EFF95A}"/>
              </a:ext>
            </a:extLst>
          </p:cNvPr>
          <p:cNvSpPr txBox="1"/>
          <p:nvPr/>
        </p:nvSpPr>
        <p:spPr>
          <a:xfrm>
            <a:off x="920620" y="1566075"/>
            <a:ext cx="6144207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Key Insights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du Co Headline 16 Light" panose="020B0503060202020204" pitchFamily="34" charset="0"/>
              <a:cs typeface="du Co Headline 16 Light" panose="020B050306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Spike in Feb 26 is due to Ethara Sole Proprietorship OCC which Values 1.5M AED.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du Co Headline 16 Light" panose="020B0503060202020204" pitchFamily="34" charset="0"/>
              <a:cs typeface="du Co Headline 16 Light" panose="020B0503060202020204" pitchFamily="34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du Co Headline 16 Light" panose="020B0503060202020204" pitchFamily="34" charset="0"/>
              <a:cs typeface="du Co Headline 16 Light" panose="020B0503060202020204" pitchFamily="34" charset="0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419C4D2C-4D9A-2EC0-5FBD-9B32612D3D0A}"/>
              </a:ext>
            </a:extLst>
          </p:cNvPr>
          <p:cNvSpPr txBox="1"/>
          <p:nvPr/>
        </p:nvSpPr>
        <p:spPr>
          <a:xfrm>
            <a:off x="8769524" y="1161572"/>
            <a:ext cx="13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OCC Value</a:t>
            </a:r>
          </a:p>
          <a:p>
            <a:pPr defTabSz="1219140">
              <a:defRPr/>
            </a:pPr>
            <a:r>
              <a:rPr lang="en-US" sz="900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28671302.59 AED</a:t>
            </a:r>
          </a:p>
        </p:txBody>
      </p:sp>
      <p:sp>
        <p:nvSpPr>
          <p:cNvPr id="10" name="TextBox 21">
            <a:extLst>
              <a:ext uri="{FF2B5EF4-FFF2-40B4-BE49-F238E27FC236}">
                <a16:creationId xmlns:a16="http://schemas.microsoft.com/office/drawing/2014/main" id="{F56DB1F1-C4F3-55BC-F68D-573382678A05}"/>
              </a:ext>
            </a:extLst>
          </p:cNvPr>
          <p:cNvSpPr txBox="1"/>
          <p:nvPr/>
        </p:nvSpPr>
        <p:spPr>
          <a:xfrm>
            <a:off x="10118812" y="1161572"/>
            <a:ext cx="13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OCC Count</a:t>
            </a:r>
          </a:p>
          <a:p>
            <a:pPr defTabSz="1219140">
              <a:defRPr/>
            </a:pPr>
            <a:r>
              <a:rPr lang="en-US" sz="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160</a:t>
            </a:r>
            <a:endParaRPr lang="en-US" sz="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E5B4E74-6A8C-CE38-3F36-C629674832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5824159"/>
              </p:ext>
            </p:extLst>
          </p:nvPr>
        </p:nvGraphicFramePr>
        <p:xfrm>
          <a:off x="920619" y="2497394"/>
          <a:ext cx="10507413" cy="319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718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226CBDC-AB00-F015-D23B-67C03B2836CC}"/>
              </a:ext>
            </a:extLst>
          </p:cNvPr>
          <p:cNvGrpSpPr/>
          <p:nvPr/>
        </p:nvGrpSpPr>
        <p:grpSpPr>
          <a:xfrm>
            <a:off x="5265" y="-93095"/>
            <a:ext cx="12254430" cy="6912677"/>
            <a:chOff x="60150" y="44688"/>
            <a:chExt cx="9083850" cy="51845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47F1C18-BE9B-82E1-6FA4-E8257CD8C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44688"/>
              <a:ext cx="9083850" cy="268918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50A42D-0E5A-46F8-4D50-3A9311019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2632221"/>
              <a:ext cx="9083850" cy="259697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606074F-DB87-9AB5-003F-D7F4A131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784" y="0"/>
            <a:ext cx="1728216" cy="720852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147A77B8-C4B6-D591-FD43-C85CA9293112}"/>
              </a:ext>
            </a:extLst>
          </p:cNvPr>
          <p:cNvSpPr txBox="1">
            <a:spLocks/>
          </p:cNvSpPr>
          <p:nvPr/>
        </p:nvSpPr>
        <p:spPr>
          <a:xfrm>
            <a:off x="580104" y="230314"/>
            <a:ext cx="9625013" cy="49053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cs typeface="du Co Headline 16" panose="020B0603060202020204" pitchFamily="34" charset="0"/>
              </a:rPr>
              <a:t>Posted/ Approved OCCs for 2026</a:t>
            </a:r>
            <a:endParaRPr lang="en-US" sz="2800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cs typeface="du Co Headline 16" panose="020B060306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2BC14C-000A-0D09-5E96-FCB189C42850}"/>
              </a:ext>
            </a:extLst>
          </p:cNvPr>
          <p:cNvSpPr/>
          <p:nvPr/>
        </p:nvSpPr>
        <p:spPr>
          <a:xfrm>
            <a:off x="580104" y="763946"/>
            <a:ext cx="5110934" cy="58637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E9FD74-330B-5B61-7C39-6344C7EF0C69}"/>
              </a:ext>
            </a:extLst>
          </p:cNvPr>
          <p:cNvSpPr/>
          <p:nvPr/>
        </p:nvSpPr>
        <p:spPr>
          <a:xfrm>
            <a:off x="6171324" y="808792"/>
            <a:ext cx="5110933" cy="5818894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41F1BFE4-791B-D1B0-4004-B414E8440808}"/>
              </a:ext>
            </a:extLst>
          </p:cNvPr>
          <p:cNvSpPr txBox="1"/>
          <p:nvPr/>
        </p:nvSpPr>
        <p:spPr>
          <a:xfrm>
            <a:off x="864108" y="913958"/>
            <a:ext cx="252871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067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OCC Value &amp; Count Per Reason</a:t>
            </a:r>
            <a:endParaRPr lang="en-US" sz="1067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sp>
        <p:nvSpPr>
          <p:cNvPr id="10" name="TextBox 21">
            <a:extLst>
              <a:ext uri="{FF2B5EF4-FFF2-40B4-BE49-F238E27FC236}">
                <a16:creationId xmlns:a16="http://schemas.microsoft.com/office/drawing/2014/main" id="{7F8D0AED-EEC4-790B-8BB4-9D710BB617DB}"/>
              </a:ext>
            </a:extLst>
          </p:cNvPr>
          <p:cNvSpPr txBox="1"/>
          <p:nvPr/>
        </p:nvSpPr>
        <p:spPr>
          <a:xfrm>
            <a:off x="3135571" y="951166"/>
            <a:ext cx="127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OCC Value</a:t>
            </a:r>
          </a:p>
          <a:p>
            <a:pPr defTabSz="1219140">
              <a:defRPr/>
            </a:pPr>
            <a:r>
              <a:rPr lang="en-US" sz="900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28671302.59</a:t>
            </a:r>
            <a:r>
              <a:rPr lang="en-US" sz="900" b="1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AED </a:t>
            </a:r>
          </a:p>
        </p:txBody>
      </p:sp>
      <p:sp>
        <p:nvSpPr>
          <p:cNvPr id="11" name="TextBox 21">
            <a:extLst>
              <a:ext uri="{FF2B5EF4-FFF2-40B4-BE49-F238E27FC236}">
                <a16:creationId xmlns:a16="http://schemas.microsoft.com/office/drawing/2014/main" id="{2F73C923-BB41-EDA9-4FBC-F6EB387E4745}"/>
              </a:ext>
            </a:extLst>
          </p:cNvPr>
          <p:cNvSpPr txBox="1"/>
          <p:nvPr/>
        </p:nvSpPr>
        <p:spPr>
          <a:xfrm>
            <a:off x="4216498" y="951166"/>
            <a:ext cx="117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OCC Count</a:t>
            </a:r>
          </a:p>
          <a:p>
            <a:pPr defTabSz="1219140">
              <a:defRPr/>
            </a:pPr>
            <a:r>
              <a:rPr lang="en-US" sz="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160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12D9D85-08B8-DF42-9061-41782DDACD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38536"/>
              </p:ext>
            </p:extLst>
          </p:nvPr>
        </p:nvGraphicFramePr>
        <p:xfrm>
          <a:off x="540956" y="1279417"/>
          <a:ext cx="5034116" cy="4167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21">
            <a:extLst>
              <a:ext uri="{FF2B5EF4-FFF2-40B4-BE49-F238E27FC236}">
                <a16:creationId xmlns:a16="http://schemas.microsoft.com/office/drawing/2014/main" id="{D4C9E361-5C7B-7E5F-C64C-C9D74B03ACCF}"/>
              </a:ext>
            </a:extLst>
          </p:cNvPr>
          <p:cNvSpPr txBox="1"/>
          <p:nvPr/>
        </p:nvSpPr>
        <p:spPr>
          <a:xfrm>
            <a:off x="678910" y="5278986"/>
            <a:ext cx="2189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2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Highlights</a:t>
            </a:r>
            <a:endParaRPr lang="en-US" sz="1200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143B4-2B04-2CD7-E3F1-67A883A68B45}"/>
              </a:ext>
            </a:extLst>
          </p:cNvPr>
          <p:cNvSpPr txBox="1"/>
          <p:nvPr/>
        </p:nvSpPr>
        <p:spPr>
          <a:xfrm>
            <a:off x="674691" y="5599079"/>
            <a:ext cx="476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Top 3 categories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(Goodwill Bonus, Rebate, Product Limitation in CRM)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account for over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80%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of total OCC value.</a:t>
            </a:r>
          </a:p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Goodwill Bonus and Rebate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 has the highest case count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(32)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, indicating frequent occurrences.</a:t>
            </a:r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CB1B51FA-F180-7F96-A18A-9AB57C243F77}"/>
              </a:ext>
            </a:extLst>
          </p:cNvPr>
          <p:cNvSpPr txBox="1"/>
          <p:nvPr/>
        </p:nvSpPr>
        <p:spPr>
          <a:xfrm>
            <a:off x="6624498" y="966478"/>
            <a:ext cx="246610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067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OCC Value &amp; Count Per Vertical</a:t>
            </a:r>
            <a:endParaRPr lang="en-US" sz="1067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5DCA8-D71E-1058-61AF-5EAD40B47F33}"/>
              </a:ext>
            </a:extLst>
          </p:cNvPr>
          <p:cNvSpPr txBox="1"/>
          <p:nvPr/>
        </p:nvSpPr>
        <p:spPr>
          <a:xfrm>
            <a:off x="8765202" y="976301"/>
            <a:ext cx="11779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OCC Count</a:t>
            </a:r>
          </a:p>
          <a:p>
            <a:pPr defTabSz="1219140">
              <a:defRPr/>
            </a:pPr>
            <a:r>
              <a:rPr lang="en-US" sz="900" b="1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28671302.59</a:t>
            </a:r>
            <a:r>
              <a:rPr lang="en-US" sz="900" b="1" dirty="0">
                <a:solidFill>
                  <a:srgbClr val="C724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AED </a:t>
            </a:r>
          </a:p>
          <a:p>
            <a:pPr defTabSz="1219140">
              <a:defRPr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F44E37D9-5FCE-C1A8-79C9-6F0D633A09A0}"/>
              </a:ext>
            </a:extLst>
          </p:cNvPr>
          <p:cNvSpPr txBox="1"/>
          <p:nvPr/>
        </p:nvSpPr>
        <p:spPr>
          <a:xfrm>
            <a:off x="9834487" y="976301"/>
            <a:ext cx="117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OCC Count</a:t>
            </a:r>
          </a:p>
          <a:p>
            <a:pPr defTabSz="1219140">
              <a:defRPr/>
            </a:pPr>
            <a:r>
              <a:rPr lang="en-US" sz="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160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3C7AC3BD-5879-CD2D-FE4A-02124A7BE3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0708176"/>
              </p:ext>
            </p:extLst>
          </p:nvPr>
        </p:nvGraphicFramePr>
        <p:xfrm>
          <a:off x="6356555" y="1390532"/>
          <a:ext cx="4572000" cy="3446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Box 21">
            <a:extLst>
              <a:ext uri="{FF2B5EF4-FFF2-40B4-BE49-F238E27FC236}">
                <a16:creationId xmlns:a16="http://schemas.microsoft.com/office/drawing/2014/main" id="{C11D5DAF-CC60-74BF-AFE7-E2BE4C94597C}"/>
              </a:ext>
            </a:extLst>
          </p:cNvPr>
          <p:cNvSpPr txBox="1"/>
          <p:nvPr/>
        </p:nvSpPr>
        <p:spPr>
          <a:xfrm>
            <a:off x="6483074" y="4903587"/>
            <a:ext cx="2189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2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Highlights</a:t>
            </a:r>
            <a:endParaRPr lang="en-US" sz="1200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8A96F6-DE0F-2B12-B83C-FD9B8D4F6015}"/>
              </a:ext>
            </a:extLst>
          </p:cNvPr>
          <p:cNvSpPr txBox="1"/>
          <p:nvPr/>
        </p:nvSpPr>
        <p:spPr>
          <a:xfrm>
            <a:off x="6471667" y="5180586"/>
            <a:ext cx="4920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Key B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has the highest number of discounts/waivers issued.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AUH and Key A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show moderate numbers, indicating fewer waivers.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F-NE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and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HUNT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 have minimal instances of discounts/waivers.</a:t>
            </a:r>
          </a:p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Overall Takeaway: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Verticals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(Key B, LE, AUH, Key A)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account for the majority of discounts/waivers, while others has less.</a:t>
            </a:r>
          </a:p>
        </p:txBody>
      </p:sp>
    </p:spTree>
    <p:extLst>
      <p:ext uri="{BB962C8B-B14F-4D97-AF65-F5344CB8AC3E}">
        <p14:creationId xmlns:p14="http://schemas.microsoft.com/office/powerpoint/2010/main" val="195895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D3CC91D2-B6E5-4E66-AF8F-488E7F4DC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" y="-13282"/>
            <a:ext cx="12185891" cy="3462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33C0DA-BAB5-4E90-A290-C498A68BF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" y="3618485"/>
            <a:ext cx="12185891" cy="3462633"/>
          </a:xfrm>
          <a:prstGeom prst="rect">
            <a:avLst/>
          </a:prstGeom>
        </p:spPr>
      </p:pic>
      <p:sp>
        <p:nvSpPr>
          <p:cNvPr id="48" name="TextBox 21">
            <a:extLst>
              <a:ext uri="{FF2B5EF4-FFF2-40B4-BE49-F238E27FC236}">
                <a16:creationId xmlns:a16="http://schemas.microsoft.com/office/drawing/2014/main" id="{A384BD4A-4C4D-4595-9D42-529E9605A8F6}"/>
              </a:ext>
            </a:extLst>
          </p:cNvPr>
          <p:cNvSpPr txBox="1"/>
          <p:nvPr/>
        </p:nvSpPr>
        <p:spPr>
          <a:xfrm>
            <a:off x="678929" y="882514"/>
            <a:ext cx="252871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067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OCC Value &amp; Count Per Reason</a:t>
            </a:r>
            <a:endParaRPr lang="en-US" sz="1067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B401E-5562-416D-B430-79C4190CA365}"/>
              </a:ext>
            </a:extLst>
          </p:cNvPr>
          <p:cNvSpPr txBox="1"/>
          <p:nvPr/>
        </p:nvSpPr>
        <p:spPr>
          <a:xfrm>
            <a:off x="242719" y="98498"/>
            <a:ext cx="8026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  <a:cs typeface="du Co Headline 16" panose="020B0603060202020204" pitchFamily="34" charset="0"/>
              </a:rPr>
              <a:t>Pending OCCs for 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AE42A4-E61A-4EF4-83F5-BBE28B31C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784" y="0"/>
            <a:ext cx="1728216" cy="720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4264BD-5E56-48BB-AC64-BEDB817711F2}"/>
              </a:ext>
            </a:extLst>
          </p:cNvPr>
          <p:cNvSpPr txBox="1"/>
          <p:nvPr/>
        </p:nvSpPr>
        <p:spPr>
          <a:xfrm>
            <a:off x="493613" y="5637423"/>
            <a:ext cx="5317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Top 3 categories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(Product Limitation in CRM, Rebate and Agent Error)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account for over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80%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of total OCC value in the pending cases.</a:t>
            </a:r>
          </a:p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Goodwill Bonus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has the highest case count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(37)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, indicating frequent occurrences.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8D92F390-7C4C-423F-B6E1-3A1300B027DD}"/>
              </a:ext>
            </a:extLst>
          </p:cNvPr>
          <p:cNvSpPr txBox="1"/>
          <p:nvPr/>
        </p:nvSpPr>
        <p:spPr>
          <a:xfrm>
            <a:off x="6627168" y="882514"/>
            <a:ext cx="246610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067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OCC Value &amp; Count Per Vertical</a:t>
            </a:r>
            <a:endParaRPr lang="en-US" sz="1067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7E5A48-88C7-4BF8-9D68-BD623B3AF8F6}"/>
              </a:ext>
            </a:extLst>
          </p:cNvPr>
          <p:cNvSpPr/>
          <p:nvPr/>
        </p:nvSpPr>
        <p:spPr>
          <a:xfrm>
            <a:off x="435750" y="789361"/>
            <a:ext cx="5486400" cy="5943047"/>
          </a:xfrm>
          <a:prstGeom prst="roundRect">
            <a:avLst>
              <a:gd name="adj" fmla="val 8237"/>
            </a:avLst>
          </a:prstGeom>
          <a:noFill/>
          <a:ln w="9525">
            <a:gradFill>
              <a:gsLst>
                <a:gs pos="0">
                  <a:srgbClr val="7030A0"/>
                </a:gs>
                <a:gs pos="100000">
                  <a:srgbClr val="FF66FF"/>
                </a:gs>
              </a:gsLst>
              <a:lin ang="5400000" scaled="1"/>
            </a:gra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5EB2B28-37C1-48B8-8669-A79CDF6EBA21}"/>
              </a:ext>
            </a:extLst>
          </p:cNvPr>
          <p:cNvSpPr/>
          <p:nvPr/>
        </p:nvSpPr>
        <p:spPr>
          <a:xfrm>
            <a:off x="6299199" y="739510"/>
            <a:ext cx="5486400" cy="6019992"/>
          </a:xfrm>
          <a:prstGeom prst="roundRect">
            <a:avLst>
              <a:gd name="adj" fmla="val 8237"/>
            </a:avLst>
          </a:prstGeom>
          <a:noFill/>
          <a:ln w="9525">
            <a:gradFill>
              <a:gsLst>
                <a:gs pos="0">
                  <a:srgbClr val="7030A0"/>
                </a:gs>
                <a:gs pos="100000">
                  <a:srgbClr val="FF66FF"/>
                </a:gs>
              </a:gsLst>
              <a:lin ang="5400000" scaled="1"/>
            </a:gra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21">
            <a:extLst>
              <a:ext uri="{FF2B5EF4-FFF2-40B4-BE49-F238E27FC236}">
                <a16:creationId xmlns:a16="http://schemas.microsoft.com/office/drawing/2014/main" id="{07E62565-FF0A-4ABF-9DD6-F616BE13BA52}"/>
              </a:ext>
            </a:extLst>
          </p:cNvPr>
          <p:cNvSpPr txBox="1"/>
          <p:nvPr/>
        </p:nvSpPr>
        <p:spPr>
          <a:xfrm>
            <a:off x="433104" y="5319631"/>
            <a:ext cx="2189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2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Highlights</a:t>
            </a:r>
            <a:endParaRPr lang="en-US" sz="1200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sp>
        <p:nvSpPr>
          <p:cNvPr id="61" name="TextBox 21">
            <a:extLst>
              <a:ext uri="{FF2B5EF4-FFF2-40B4-BE49-F238E27FC236}">
                <a16:creationId xmlns:a16="http://schemas.microsoft.com/office/drawing/2014/main" id="{338E6A7B-57CC-417F-98D2-98611AB0AF8E}"/>
              </a:ext>
            </a:extLst>
          </p:cNvPr>
          <p:cNvSpPr txBox="1"/>
          <p:nvPr/>
        </p:nvSpPr>
        <p:spPr>
          <a:xfrm>
            <a:off x="9410133" y="868460"/>
            <a:ext cx="119770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OCC Value</a:t>
            </a:r>
          </a:p>
          <a:p>
            <a:pPr defTabSz="1219140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8,554,386 AED </a:t>
            </a:r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517272FB-A795-4633-B879-89C3EC8B14B5}"/>
              </a:ext>
            </a:extLst>
          </p:cNvPr>
          <p:cNvSpPr txBox="1"/>
          <p:nvPr/>
        </p:nvSpPr>
        <p:spPr>
          <a:xfrm>
            <a:off x="10525302" y="882140"/>
            <a:ext cx="117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OCC Count</a:t>
            </a:r>
          </a:p>
          <a:p>
            <a:pPr defTabSz="1219140">
              <a:defRPr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363423C-722D-4FC9-9BB7-715850DB33C8}"/>
              </a:ext>
            </a:extLst>
          </p:cNvPr>
          <p:cNvCxnSpPr>
            <a:cxnSpLocks/>
          </p:cNvCxnSpPr>
          <p:nvPr/>
        </p:nvCxnSpPr>
        <p:spPr>
          <a:xfrm>
            <a:off x="10600397" y="944056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6D6D005-9128-4A19-B4AF-7E89F5D50ABA}"/>
              </a:ext>
            </a:extLst>
          </p:cNvPr>
          <p:cNvCxnSpPr>
            <a:cxnSpLocks/>
          </p:cNvCxnSpPr>
          <p:nvPr/>
        </p:nvCxnSpPr>
        <p:spPr>
          <a:xfrm>
            <a:off x="9455763" y="935090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TextBox 21">
            <a:extLst>
              <a:ext uri="{FF2B5EF4-FFF2-40B4-BE49-F238E27FC236}">
                <a16:creationId xmlns:a16="http://schemas.microsoft.com/office/drawing/2014/main" id="{2705CD84-9943-4A81-939B-8FD9A89B2DA7}"/>
              </a:ext>
            </a:extLst>
          </p:cNvPr>
          <p:cNvSpPr txBox="1"/>
          <p:nvPr/>
        </p:nvSpPr>
        <p:spPr>
          <a:xfrm>
            <a:off x="3562129" y="910048"/>
            <a:ext cx="119770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OCC Value</a:t>
            </a:r>
          </a:p>
          <a:p>
            <a:pPr defTabSz="1219140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8,554,386 AED </a:t>
            </a:r>
          </a:p>
        </p:txBody>
      </p:sp>
      <p:sp>
        <p:nvSpPr>
          <p:cNvPr id="66" name="TextBox 21">
            <a:extLst>
              <a:ext uri="{FF2B5EF4-FFF2-40B4-BE49-F238E27FC236}">
                <a16:creationId xmlns:a16="http://schemas.microsoft.com/office/drawing/2014/main" id="{D54D6547-F167-4165-9AB3-0D38EB16093E}"/>
              </a:ext>
            </a:extLst>
          </p:cNvPr>
          <p:cNvSpPr txBox="1"/>
          <p:nvPr/>
        </p:nvSpPr>
        <p:spPr>
          <a:xfrm>
            <a:off x="4710219" y="923728"/>
            <a:ext cx="117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OCC Count</a:t>
            </a:r>
          </a:p>
          <a:p>
            <a:pPr defTabSz="1219140">
              <a:defRPr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E8216C4-D1EE-4C82-B7DD-F1745C200DC3}"/>
              </a:ext>
            </a:extLst>
          </p:cNvPr>
          <p:cNvCxnSpPr>
            <a:cxnSpLocks/>
          </p:cNvCxnSpPr>
          <p:nvPr/>
        </p:nvCxnSpPr>
        <p:spPr>
          <a:xfrm>
            <a:off x="4752393" y="985644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28FEB6E-E558-40C6-BE9F-3813F8BF3214}"/>
              </a:ext>
            </a:extLst>
          </p:cNvPr>
          <p:cNvCxnSpPr>
            <a:cxnSpLocks/>
          </p:cNvCxnSpPr>
          <p:nvPr/>
        </p:nvCxnSpPr>
        <p:spPr>
          <a:xfrm>
            <a:off x="3616724" y="976678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FED3395-3D78-4780-9D71-789BC5A214A5}"/>
              </a:ext>
            </a:extLst>
          </p:cNvPr>
          <p:cNvSpPr txBox="1"/>
          <p:nvPr/>
        </p:nvSpPr>
        <p:spPr>
          <a:xfrm>
            <a:off x="6434695" y="5532079"/>
            <a:ext cx="5317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LE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has the highest number of discounts/waivers issued.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Key B and DXB, AUH and Key A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show moderate numbers, indicating fewer waivers.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F-NE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and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HUNT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 have minimal instances of discounts/waivers.</a:t>
            </a:r>
          </a:p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Overall Takeaway: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Verticals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(DXB, LE and Key B)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account for the majority of discounts/waivers OCC value, while others has less.</a:t>
            </a:r>
          </a:p>
        </p:txBody>
      </p:sp>
      <p:sp>
        <p:nvSpPr>
          <p:cNvPr id="86" name="TextBox 21">
            <a:extLst>
              <a:ext uri="{FF2B5EF4-FFF2-40B4-BE49-F238E27FC236}">
                <a16:creationId xmlns:a16="http://schemas.microsoft.com/office/drawing/2014/main" id="{11694429-E3D1-45A9-9605-A7016FE67C84}"/>
              </a:ext>
            </a:extLst>
          </p:cNvPr>
          <p:cNvSpPr txBox="1"/>
          <p:nvPr/>
        </p:nvSpPr>
        <p:spPr>
          <a:xfrm>
            <a:off x="6320494" y="5276723"/>
            <a:ext cx="2189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12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ea typeface="+mj-ea"/>
              </a:rPr>
              <a:t>Highlights</a:t>
            </a:r>
            <a:endParaRPr lang="en-US" sz="1200" b="1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ea typeface="+mj-ea"/>
            </a:endParaRP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0FCCEB99-82B8-4087-BDE5-C9E8B7E5F109}"/>
              </a:ext>
            </a:extLst>
          </p:cNvPr>
          <p:cNvGraphicFramePr>
            <a:graphicFrameLocks/>
          </p:cNvGraphicFramePr>
          <p:nvPr/>
        </p:nvGraphicFramePr>
        <p:xfrm>
          <a:off x="433104" y="1682495"/>
          <a:ext cx="5377659" cy="3594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236C2BBC-FB95-4DBD-A5A7-01FD0385670B}"/>
              </a:ext>
            </a:extLst>
          </p:cNvPr>
          <p:cNvGraphicFramePr>
            <a:graphicFrameLocks/>
          </p:cNvGraphicFramePr>
          <p:nvPr/>
        </p:nvGraphicFramePr>
        <p:xfrm>
          <a:off x="6209697" y="1640233"/>
          <a:ext cx="5403183" cy="3722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3072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E866F0-E704-9B7A-E7D6-5DABA5CE09EA}"/>
              </a:ext>
            </a:extLst>
          </p:cNvPr>
          <p:cNvGrpSpPr/>
          <p:nvPr/>
        </p:nvGrpSpPr>
        <p:grpSpPr>
          <a:xfrm>
            <a:off x="5265" y="-93095"/>
            <a:ext cx="12254430" cy="6912677"/>
            <a:chOff x="60150" y="44688"/>
            <a:chExt cx="9083850" cy="51845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D723AC-7891-CCA5-1B82-B5F26F7B8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44688"/>
              <a:ext cx="9083850" cy="268918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A8906F-FA75-8346-7D49-581D34827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2632221"/>
              <a:ext cx="9083850" cy="2596975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288082D-B798-A8D1-6072-6A20230D8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784" y="0"/>
            <a:ext cx="1728216" cy="720852"/>
          </a:xfrm>
          <a:prstGeom prst="rect">
            <a:avLst/>
          </a:prstGeom>
        </p:spPr>
      </p:pic>
      <p:sp>
        <p:nvSpPr>
          <p:cNvPr id="11" name="Title 5">
            <a:extLst>
              <a:ext uri="{FF2B5EF4-FFF2-40B4-BE49-F238E27FC236}">
                <a16:creationId xmlns:a16="http://schemas.microsoft.com/office/drawing/2014/main" id="{18876674-EB78-58AF-FDF4-8724F2A73373}"/>
              </a:ext>
            </a:extLst>
          </p:cNvPr>
          <p:cNvSpPr txBox="1">
            <a:spLocks/>
          </p:cNvSpPr>
          <p:nvPr/>
        </p:nvSpPr>
        <p:spPr>
          <a:xfrm>
            <a:off x="396630" y="338964"/>
            <a:ext cx="10083800" cy="4398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cs typeface="du Co Headline 16" panose="020B0603060202020204" pitchFamily="34" charset="0"/>
              </a:rPr>
              <a:t>OCCs Category as per Approval Level  </a:t>
            </a:r>
            <a:endParaRPr lang="en-US" sz="3200" dirty="0">
              <a:gradFill>
                <a:gsLst>
                  <a:gs pos="0">
                    <a:srgbClr val="00205B"/>
                  </a:gs>
                  <a:gs pos="43000">
                    <a:srgbClr val="753BBD"/>
                  </a:gs>
                  <a:gs pos="79000">
                    <a:srgbClr val="00A9CE"/>
                  </a:gs>
                </a:gsLst>
                <a:lin ang="19800000" scaled="0"/>
              </a:gradFill>
              <a:latin typeface="du Co Headline 16" panose="020B0603060202020204" pitchFamily="34" charset="0"/>
              <a:cs typeface="du Co Headline 16" panose="020B060306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3AE447-9C4A-DCB5-2D1F-187D3F992100}"/>
              </a:ext>
            </a:extLst>
          </p:cNvPr>
          <p:cNvSpPr txBox="1"/>
          <p:nvPr/>
        </p:nvSpPr>
        <p:spPr>
          <a:xfrm>
            <a:off x="475521" y="1521072"/>
            <a:ext cx="5352484" cy="270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Key Insights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du Co Headline 16 Light" panose="020B0503060202020204" pitchFamily="34" charset="0"/>
              <a:cs typeface="du Co Headline 16 Light" panose="020B0503060202020204" pitchFamily="34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du Co Headline 16 Light" panose="020B0503060202020204" pitchFamily="34" charset="0"/>
              <a:cs typeface="du Co Headline 16 Light" panose="020B050306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Mid-Range OCCs (Up to 249,999 AED)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Count: 144 OCCs (90% of total)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Total Value: 28.4M AED.</a:t>
            </a:r>
          </a:p>
          <a:p>
            <a:pPr>
              <a:lnSpc>
                <a:spcPct val="150000"/>
              </a:lnSpc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du Co Headline 16 Light" panose="020B0503060202020204" pitchFamily="34" charset="0"/>
              <a:cs typeface="du Co Headline 16 Light" panose="020B050306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High-Value OCCs (250,000 AED &amp; Above)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Count: 14 OCCs (10 % of total)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Total Value: 16.9M AED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333318-4BC7-A7DB-D2C7-A0C2AA9CB643}"/>
              </a:ext>
            </a:extLst>
          </p:cNvPr>
          <p:cNvSpPr/>
          <p:nvPr/>
        </p:nvSpPr>
        <p:spPr>
          <a:xfrm>
            <a:off x="4738714" y="1152911"/>
            <a:ext cx="7157884" cy="5329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8329C-AF73-4B0F-43EC-B7362EA2C1FE}"/>
              </a:ext>
            </a:extLst>
          </p:cNvPr>
          <p:cNvSpPr txBox="1"/>
          <p:nvPr/>
        </p:nvSpPr>
        <p:spPr>
          <a:xfrm>
            <a:off x="7172632" y="1699691"/>
            <a:ext cx="2405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724B1"/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Highest Approval Level</a:t>
            </a:r>
          </a:p>
        </p:txBody>
      </p:sp>
      <p:cxnSp>
        <p:nvCxnSpPr>
          <p:cNvPr id="18" name="Straight Connector 2">
            <a:extLst>
              <a:ext uri="{FF2B5EF4-FFF2-40B4-BE49-F238E27FC236}">
                <a16:creationId xmlns:a16="http://schemas.microsoft.com/office/drawing/2014/main" id="{36817B48-B523-3D3E-8748-832B029F11FF}"/>
              </a:ext>
            </a:extLst>
          </p:cNvPr>
          <p:cNvCxnSpPr>
            <a:cxnSpLocks/>
          </p:cNvCxnSpPr>
          <p:nvPr/>
        </p:nvCxnSpPr>
        <p:spPr>
          <a:xfrm flipV="1">
            <a:off x="6626168" y="1955370"/>
            <a:ext cx="1748971" cy="185938"/>
          </a:xfrm>
          <a:prstGeom prst="bentConnector2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2">
            <a:extLst>
              <a:ext uri="{FF2B5EF4-FFF2-40B4-BE49-F238E27FC236}">
                <a16:creationId xmlns:a16="http://schemas.microsoft.com/office/drawing/2014/main" id="{7AC79148-B665-EC53-BEC0-FC786AF3E894}"/>
              </a:ext>
            </a:extLst>
          </p:cNvPr>
          <p:cNvCxnSpPr>
            <a:cxnSpLocks/>
          </p:cNvCxnSpPr>
          <p:nvPr/>
        </p:nvCxnSpPr>
        <p:spPr>
          <a:xfrm flipH="1" flipV="1">
            <a:off x="8375139" y="2130000"/>
            <a:ext cx="1814146" cy="22616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1B3D77B-5734-54E5-2078-B4EAD4D9E2E9}"/>
              </a:ext>
            </a:extLst>
          </p:cNvPr>
          <p:cNvSpPr/>
          <p:nvPr/>
        </p:nvSpPr>
        <p:spPr>
          <a:xfrm rot="10800000">
            <a:off x="6626168" y="2152616"/>
            <a:ext cx="45719" cy="140706"/>
          </a:xfrm>
          <a:prstGeom prst="triangl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DEBCFAC-D2AF-0F45-6F60-3525DC469AC0}"/>
              </a:ext>
            </a:extLst>
          </p:cNvPr>
          <p:cNvSpPr/>
          <p:nvPr/>
        </p:nvSpPr>
        <p:spPr>
          <a:xfrm rot="10800000">
            <a:off x="10070523" y="2187182"/>
            <a:ext cx="45719" cy="140705"/>
          </a:xfrm>
          <a:prstGeom prst="triangl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216D8A-0E26-B2B4-5EDF-E27257B6AF54}"/>
              </a:ext>
            </a:extLst>
          </p:cNvPr>
          <p:cNvSpPr txBox="1"/>
          <p:nvPr/>
        </p:nvSpPr>
        <p:spPr>
          <a:xfrm>
            <a:off x="5878512" y="2396987"/>
            <a:ext cx="158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Abou &amp; Marwan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60F847-782D-BCFA-4AFD-6E433FB95B11}"/>
              </a:ext>
            </a:extLst>
          </p:cNvPr>
          <p:cNvSpPr txBox="1"/>
          <p:nvPr/>
        </p:nvSpPr>
        <p:spPr>
          <a:xfrm>
            <a:off x="9322867" y="2401307"/>
            <a:ext cx="158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205B"/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Diego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CAEF27FA-3626-2D2F-DA05-5CE711D8BA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4683122"/>
              </p:ext>
            </p:extLst>
          </p:nvPr>
        </p:nvGraphicFramePr>
        <p:xfrm>
          <a:off x="5285223" y="2481794"/>
          <a:ext cx="6431256" cy="4031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4234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9BB6356-41E8-47D0-BBE6-EEC1F4E96C8B}"/>
              </a:ext>
            </a:extLst>
          </p:cNvPr>
          <p:cNvGrpSpPr/>
          <p:nvPr/>
        </p:nvGrpSpPr>
        <p:grpSpPr>
          <a:xfrm>
            <a:off x="-31215" y="0"/>
            <a:ext cx="12254430" cy="6912677"/>
            <a:chOff x="60150" y="44688"/>
            <a:chExt cx="9083850" cy="518450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D7F582A-BC6B-4687-A4FE-08CA7D087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44688"/>
              <a:ext cx="9083850" cy="268918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549B52A-5B2B-41DC-87B7-A7ADDDB86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2632221"/>
              <a:ext cx="9083850" cy="2596975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4FAA520A-4349-4DAE-8947-41DEF49E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30" y="338964"/>
            <a:ext cx="5933050" cy="439896"/>
          </a:xfrm>
        </p:spPr>
        <p:txBody>
          <a:bodyPr>
            <a:noAutofit/>
          </a:bodyPr>
          <a:lstStyle/>
          <a:p>
            <a:r>
              <a:rPr lang="en-US" sz="32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cs typeface="du Co Headline 16" panose="020B0603060202020204" pitchFamily="34" charset="0"/>
              </a:rPr>
              <a:t>OCCs Internal SLA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F44F0E-6210-45DC-A029-5962E3E1B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784" y="0"/>
            <a:ext cx="1728216" cy="720852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9711537-B711-4890-B77D-2516C5D3C8BF}"/>
              </a:ext>
            </a:extLst>
          </p:cNvPr>
          <p:cNvSpPr/>
          <p:nvPr/>
        </p:nvSpPr>
        <p:spPr>
          <a:xfrm>
            <a:off x="432491" y="1114183"/>
            <a:ext cx="7519204" cy="4429125"/>
          </a:xfrm>
          <a:prstGeom prst="roundRect">
            <a:avLst>
              <a:gd name="adj" fmla="val 3285"/>
            </a:avLst>
          </a:prstGeom>
          <a:noFill/>
          <a:ln w="9525">
            <a:gradFill>
              <a:gsLst>
                <a:gs pos="0">
                  <a:srgbClr val="7030A0"/>
                </a:gs>
                <a:gs pos="100000">
                  <a:srgbClr val="FF66FF"/>
                </a:gs>
              </a:gsLst>
              <a:lin ang="5400000" scaled="1"/>
            </a:gra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F88B77-A0B7-4592-8609-FB0B52BF23B1}"/>
              </a:ext>
            </a:extLst>
          </p:cNvPr>
          <p:cNvSpPr/>
          <p:nvPr/>
        </p:nvSpPr>
        <p:spPr>
          <a:xfrm>
            <a:off x="561036" y="1338046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71C2FDC-FF7A-413C-96F2-B4D750C6BD26}"/>
              </a:ext>
            </a:extLst>
          </p:cNvPr>
          <p:cNvSpPr/>
          <p:nvPr/>
        </p:nvSpPr>
        <p:spPr>
          <a:xfrm>
            <a:off x="3070657" y="1326958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B9D611-3ACE-420F-989F-2172132FAB45}"/>
              </a:ext>
            </a:extLst>
          </p:cNvPr>
          <p:cNvSpPr/>
          <p:nvPr/>
        </p:nvSpPr>
        <p:spPr>
          <a:xfrm>
            <a:off x="5576047" y="1310806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1500" dist="279400" dir="1500000" sx="98000" sy="98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BE6784-A55B-47CE-B9A9-88CB8CBE661B}"/>
              </a:ext>
            </a:extLst>
          </p:cNvPr>
          <p:cNvSpPr txBox="1"/>
          <p:nvPr/>
        </p:nvSpPr>
        <p:spPr>
          <a:xfrm>
            <a:off x="1077079" y="2017384"/>
            <a:ext cx="1143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35%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9EF947-4E31-47B1-A500-D06C3CF8F30A}"/>
              </a:ext>
            </a:extLst>
          </p:cNvPr>
          <p:cNvSpPr txBox="1"/>
          <p:nvPr/>
        </p:nvSpPr>
        <p:spPr>
          <a:xfrm>
            <a:off x="1209759" y="2558033"/>
            <a:ext cx="1039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0-9 Days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7B6377-AF9A-455F-9A5B-C6F6BD8F883D}"/>
              </a:ext>
            </a:extLst>
          </p:cNvPr>
          <p:cNvSpPr txBox="1"/>
          <p:nvPr/>
        </p:nvSpPr>
        <p:spPr>
          <a:xfrm>
            <a:off x="3543948" y="1971867"/>
            <a:ext cx="1129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35%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FB1FA0-9597-4F5B-9566-5F1F2B8EC8AD}"/>
              </a:ext>
            </a:extLst>
          </p:cNvPr>
          <p:cNvSpPr txBox="1"/>
          <p:nvPr/>
        </p:nvSpPr>
        <p:spPr>
          <a:xfrm>
            <a:off x="3633597" y="2512516"/>
            <a:ext cx="1219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10-29 Days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217C02-8864-4C62-A303-5C7113A3D7A7}"/>
              </a:ext>
            </a:extLst>
          </p:cNvPr>
          <p:cNvSpPr txBox="1"/>
          <p:nvPr/>
        </p:nvSpPr>
        <p:spPr>
          <a:xfrm>
            <a:off x="6147082" y="1933648"/>
            <a:ext cx="1129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724B1"/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30%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82C406-D689-452B-82F4-425AF0367EC6}"/>
              </a:ext>
            </a:extLst>
          </p:cNvPr>
          <p:cNvSpPr txBox="1"/>
          <p:nvPr/>
        </p:nvSpPr>
        <p:spPr>
          <a:xfrm>
            <a:off x="6236731" y="2474297"/>
            <a:ext cx="1219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du Co Headline 16" panose="020B0603060202020204" pitchFamily="34" charset="0"/>
                <a:cs typeface="du Co Headline 16" panose="020B0603060202020204" pitchFamily="34" charset="0"/>
              </a:rPr>
              <a:t>30 + Days</a:t>
            </a:r>
          </a:p>
        </p:txBody>
      </p:sp>
      <p:pic>
        <p:nvPicPr>
          <p:cNvPr id="44" name="Picture Placeholder 159" descr="A person in a hard hat holding a tablet&#10;&#10;Description automatically generated">
            <a:extLst>
              <a:ext uri="{FF2B5EF4-FFF2-40B4-BE49-F238E27FC236}">
                <a16:creationId xmlns:a16="http://schemas.microsoft.com/office/drawing/2014/main" id="{805301E5-A88C-4B2A-AD94-04BC5F08C0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47936" y="1114183"/>
            <a:ext cx="3369356" cy="4429125"/>
          </a:xfrm>
          <a:custGeom>
            <a:avLst/>
            <a:gdLst>
              <a:gd name="connsiteX0" fmla="*/ 162201 w 3369356"/>
              <a:gd name="connsiteY0" fmla="*/ 0 h 4429125"/>
              <a:gd name="connsiteX1" fmla="*/ 3207155 w 3369356"/>
              <a:gd name="connsiteY1" fmla="*/ 0 h 4429125"/>
              <a:gd name="connsiteX2" fmla="*/ 3369356 w 3369356"/>
              <a:gd name="connsiteY2" fmla="*/ 162201 h 4429125"/>
              <a:gd name="connsiteX3" fmla="*/ 3369356 w 3369356"/>
              <a:gd name="connsiteY3" fmla="*/ 4266924 h 4429125"/>
              <a:gd name="connsiteX4" fmla="*/ 3207155 w 3369356"/>
              <a:gd name="connsiteY4" fmla="*/ 4429125 h 4429125"/>
              <a:gd name="connsiteX5" fmla="*/ 162201 w 3369356"/>
              <a:gd name="connsiteY5" fmla="*/ 4429125 h 4429125"/>
              <a:gd name="connsiteX6" fmla="*/ 0 w 3369356"/>
              <a:gd name="connsiteY6" fmla="*/ 4266924 h 4429125"/>
              <a:gd name="connsiteX7" fmla="*/ 0 w 3369356"/>
              <a:gd name="connsiteY7" fmla="*/ 162201 h 4429125"/>
              <a:gd name="connsiteX8" fmla="*/ 162201 w 3369356"/>
              <a:gd name="connsiteY8" fmla="*/ 0 h 442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69356" h="4429125">
                <a:moveTo>
                  <a:pt x="162201" y="0"/>
                </a:moveTo>
                <a:lnTo>
                  <a:pt x="3207155" y="0"/>
                </a:lnTo>
                <a:cubicBezTo>
                  <a:pt x="3296736" y="0"/>
                  <a:pt x="3369356" y="72620"/>
                  <a:pt x="3369356" y="162201"/>
                </a:cubicBezTo>
                <a:lnTo>
                  <a:pt x="3369356" y="4266924"/>
                </a:lnTo>
                <a:cubicBezTo>
                  <a:pt x="3369356" y="4356505"/>
                  <a:pt x="3296736" y="4429125"/>
                  <a:pt x="3207155" y="4429125"/>
                </a:cubicBezTo>
                <a:lnTo>
                  <a:pt x="162201" y="4429125"/>
                </a:lnTo>
                <a:cubicBezTo>
                  <a:pt x="72620" y="4429125"/>
                  <a:pt x="0" y="4356505"/>
                  <a:pt x="0" y="4266924"/>
                </a:cubicBezTo>
                <a:lnTo>
                  <a:pt x="0" y="162201"/>
                </a:lnTo>
                <a:cubicBezTo>
                  <a:pt x="0" y="72620"/>
                  <a:pt x="72620" y="0"/>
                  <a:pt x="162201" y="0"/>
                </a:cubicBezTo>
                <a:close/>
              </a:path>
            </a:pathLst>
          </a:cu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A35BE2D-CE17-4C1D-97CF-2CC447E30B38}"/>
              </a:ext>
            </a:extLst>
          </p:cNvPr>
          <p:cNvSpPr txBox="1"/>
          <p:nvPr/>
        </p:nvSpPr>
        <p:spPr>
          <a:xfrm>
            <a:off x="561036" y="3663459"/>
            <a:ext cx="7117334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SLA Compliance Summary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35%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of cases were closed within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0-9 days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, indicating strong adherence to SLAs.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35%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of cases were resolved between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10-29 days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, suggesting room for improvement.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30%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of cases exceeded 30 days, demonstrating effective backlog management.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Key Takeaway: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Timeframes are distributed almost evenly in all timeframes. Need to focus in closure of OCCs within the shortest SLA.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B0E9FA8C-A527-40C6-8B0C-A845BBC527D6}"/>
              </a:ext>
            </a:extLst>
          </p:cNvPr>
          <p:cNvGraphicFramePr>
            <a:graphicFrameLocks/>
          </p:cNvGraphicFramePr>
          <p:nvPr/>
        </p:nvGraphicFramePr>
        <p:xfrm>
          <a:off x="-329582" y="1260160"/>
          <a:ext cx="3957218" cy="2316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07D90BB1-16F1-4B61-93B7-388C19DF43EB}"/>
              </a:ext>
            </a:extLst>
          </p:cNvPr>
          <p:cNvGraphicFramePr>
            <a:graphicFrameLocks/>
          </p:cNvGraphicFramePr>
          <p:nvPr/>
        </p:nvGraphicFramePr>
        <p:xfrm>
          <a:off x="2191727" y="1248589"/>
          <a:ext cx="3957218" cy="2316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494A3891-6D00-41AB-A3FD-94EE9D7FB731}"/>
              </a:ext>
            </a:extLst>
          </p:cNvPr>
          <p:cNvGraphicFramePr>
            <a:graphicFrameLocks/>
          </p:cNvGraphicFramePr>
          <p:nvPr/>
        </p:nvGraphicFramePr>
        <p:xfrm>
          <a:off x="4852794" y="1183601"/>
          <a:ext cx="3626284" cy="2393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08698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9BB6356-41E8-47D0-BBE6-EEC1F4E96C8B}"/>
              </a:ext>
            </a:extLst>
          </p:cNvPr>
          <p:cNvGrpSpPr/>
          <p:nvPr/>
        </p:nvGrpSpPr>
        <p:grpSpPr>
          <a:xfrm>
            <a:off x="-31215" y="-172926"/>
            <a:ext cx="12254430" cy="6912677"/>
            <a:chOff x="60150" y="44688"/>
            <a:chExt cx="9083850" cy="518450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D7F582A-BC6B-4687-A4FE-08CA7D087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44688"/>
              <a:ext cx="9083850" cy="268918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549B52A-5B2B-41DC-87B7-A7ADDDB86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50" y="2632221"/>
              <a:ext cx="9083850" cy="2596975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4FAA520A-4349-4DAE-8947-41DEF49E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90" y="186625"/>
            <a:ext cx="4841195" cy="439896"/>
          </a:xfrm>
        </p:spPr>
        <p:txBody>
          <a:bodyPr>
            <a:noAutofit/>
          </a:bodyPr>
          <a:lstStyle/>
          <a:p>
            <a:r>
              <a:rPr lang="en-US" sz="3200" dirty="0">
                <a:gradFill>
                  <a:gsLst>
                    <a:gs pos="0">
                      <a:srgbClr val="00205B"/>
                    </a:gs>
                    <a:gs pos="43000">
                      <a:srgbClr val="753BBD"/>
                    </a:gs>
                    <a:gs pos="79000">
                      <a:srgbClr val="00A9CE"/>
                    </a:gs>
                  </a:gsLst>
                  <a:lin ang="19800000" scaled="0"/>
                </a:gradFill>
                <a:latin typeface="du Co Headline 16" panose="020B0603060202020204" pitchFamily="34" charset="0"/>
                <a:cs typeface="du Co Headline 16" panose="020B0603060202020204" pitchFamily="34" charset="0"/>
              </a:rPr>
              <a:t>OCC – Handset Journey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F44F0E-6210-45DC-A029-5962E3E1B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784" y="0"/>
            <a:ext cx="1728216" cy="720852"/>
          </a:xfrm>
          <a:prstGeom prst="rect">
            <a:avLst/>
          </a:prstGeom>
        </p:spPr>
      </p:pic>
      <p:sp>
        <p:nvSpPr>
          <p:cNvPr id="28" name="TextBox 21">
            <a:extLst>
              <a:ext uri="{FF2B5EF4-FFF2-40B4-BE49-F238E27FC236}">
                <a16:creationId xmlns:a16="http://schemas.microsoft.com/office/drawing/2014/main" id="{6ECDAB3D-0A18-41D2-BF12-41EB3EDE797D}"/>
              </a:ext>
            </a:extLst>
          </p:cNvPr>
          <p:cNvSpPr txBox="1"/>
          <p:nvPr/>
        </p:nvSpPr>
        <p:spPr>
          <a:xfrm>
            <a:off x="3517967" y="1208375"/>
            <a:ext cx="108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OCC Value</a:t>
            </a:r>
          </a:p>
          <a:p>
            <a:pPr defTabSz="1219140">
              <a:defRPr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632,543 AED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4D46CF14-7EDC-4B83-889F-8A74D5B3CCCC}"/>
              </a:ext>
            </a:extLst>
          </p:cNvPr>
          <p:cNvSpPr txBox="1"/>
          <p:nvPr/>
        </p:nvSpPr>
        <p:spPr>
          <a:xfrm>
            <a:off x="4611615" y="1222055"/>
            <a:ext cx="13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Handset Count</a:t>
            </a:r>
          </a:p>
          <a:p>
            <a:pPr defTabSz="1219140">
              <a:defRPr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89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52CA39-2108-4727-B867-2A58C5CB8AA6}"/>
              </a:ext>
            </a:extLst>
          </p:cNvPr>
          <p:cNvCxnSpPr>
            <a:cxnSpLocks/>
          </p:cNvCxnSpPr>
          <p:nvPr/>
        </p:nvCxnSpPr>
        <p:spPr>
          <a:xfrm>
            <a:off x="4653790" y="1283971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730726B-2F4F-494E-AD4E-862B849E5F3B}"/>
              </a:ext>
            </a:extLst>
          </p:cNvPr>
          <p:cNvCxnSpPr>
            <a:cxnSpLocks/>
          </p:cNvCxnSpPr>
          <p:nvPr/>
        </p:nvCxnSpPr>
        <p:spPr>
          <a:xfrm>
            <a:off x="3562685" y="1266214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A48F63-34A7-46B3-A9B9-26AA8C6A4CDC}"/>
              </a:ext>
            </a:extLst>
          </p:cNvPr>
          <p:cNvSpPr txBox="1"/>
          <p:nvPr/>
        </p:nvSpPr>
        <p:spPr>
          <a:xfrm>
            <a:off x="475819" y="4750656"/>
            <a:ext cx="11321935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Summary of Mobile Handsets Distribution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LE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 is the only vertical showing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75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 handsets and a total OCC value of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567K.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Verticals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(DXB, Key A and FNE)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have no values for handsets.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Mushahid Hussain Syed has raised the most handsets requests, with a total of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15 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handsets followed by Shabbir Lacewala with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13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 handsets.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	</a:t>
            </a:r>
            <a:r>
              <a:rPr lang="en-US" sz="1200" b="1" dirty="0">
                <a:solidFill>
                  <a:srgbClr val="C724B1"/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The approved budget of 1M AED will be monitored and reported during the bi-weekly meetings.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C724B1"/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	A warning will be issued once the 900K AED threshold is reached.</a:t>
            </a:r>
          </a:p>
          <a:p>
            <a:pPr marL="171450" indent="-1714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du Co Headline 16 Light" panose="020B0503060202020204" pitchFamily="34" charset="0"/>
              <a:cs typeface="du Co Headline 16 Light" panose="020B050306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9711537-B711-4890-B77D-2516C5D3C8BF}"/>
              </a:ext>
            </a:extLst>
          </p:cNvPr>
          <p:cNvSpPr/>
          <p:nvPr/>
        </p:nvSpPr>
        <p:spPr>
          <a:xfrm>
            <a:off x="338755" y="1114184"/>
            <a:ext cx="5599339" cy="3365108"/>
          </a:xfrm>
          <a:prstGeom prst="roundRect">
            <a:avLst>
              <a:gd name="adj" fmla="val 3285"/>
            </a:avLst>
          </a:prstGeom>
          <a:noFill/>
          <a:ln w="9525">
            <a:gradFill>
              <a:gsLst>
                <a:gs pos="0">
                  <a:srgbClr val="7030A0"/>
                </a:gs>
                <a:gs pos="100000">
                  <a:srgbClr val="FF66FF"/>
                </a:gs>
              </a:gsLst>
              <a:lin ang="5400000" scaled="1"/>
            </a:gra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3311D3-B855-4C6D-A00F-540C4C17A02B}"/>
              </a:ext>
            </a:extLst>
          </p:cNvPr>
          <p:cNvSpPr/>
          <p:nvPr/>
        </p:nvSpPr>
        <p:spPr>
          <a:xfrm>
            <a:off x="6236440" y="1125869"/>
            <a:ext cx="5599339" cy="3365108"/>
          </a:xfrm>
          <a:prstGeom prst="roundRect">
            <a:avLst>
              <a:gd name="adj" fmla="val 3285"/>
            </a:avLst>
          </a:prstGeom>
          <a:noFill/>
          <a:ln w="9525">
            <a:gradFill>
              <a:gsLst>
                <a:gs pos="0">
                  <a:srgbClr val="7030A0"/>
                </a:gs>
                <a:gs pos="100000">
                  <a:srgbClr val="FF66FF"/>
                </a:gs>
              </a:gsLst>
              <a:lin ang="5400000" scaled="1"/>
            </a:gra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C0C285-91BC-4242-AD60-6DE87C86AE0B}"/>
              </a:ext>
            </a:extLst>
          </p:cNvPr>
          <p:cNvSpPr txBox="1"/>
          <p:nvPr/>
        </p:nvSpPr>
        <p:spPr>
          <a:xfrm>
            <a:off x="342264" y="1090326"/>
            <a:ext cx="31708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Per Vertical Level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88935C52-B782-44D8-9463-495F92A46262}"/>
              </a:ext>
            </a:extLst>
          </p:cNvPr>
          <p:cNvSpPr txBox="1"/>
          <p:nvPr/>
        </p:nvSpPr>
        <p:spPr>
          <a:xfrm>
            <a:off x="9394885" y="1243918"/>
            <a:ext cx="108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OCC Value</a:t>
            </a:r>
          </a:p>
          <a:p>
            <a:pPr defTabSz="1219140">
              <a:defRPr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632,543 AED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B130C877-8DEE-4CC8-86C9-9327A0301114}"/>
              </a:ext>
            </a:extLst>
          </p:cNvPr>
          <p:cNvSpPr txBox="1"/>
          <p:nvPr/>
        </p:nvSpPr>
        <p:spPr>
          <a:xfrm>
            <a:off x="10488533" y="1257598"/>
            <a:ext cx="13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defTabSz="1219140">
              <a:defRPr/>
            </a:pP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Total Handset Count</a:t>
            </a:r>
          </a:p>
          <a:p>
            <a:pPr defTabSz="1219140">
              <a:defRPr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89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A3FA79E-51F0-4D0E-80AB-A085E243417E}"/>
              </a:ext>
            </a:extLst>
          </p:cNvPr>
          <p:cNvCxnSpPr>
            <a:cxnSpLocks/>
          </p:cNvCxnSpPr>
          <p:nvPr/>
        </p:nvCxnSpPr>
        <p:spPr>
          <a:xfrm>
            <a:off x="10530708" y="1319514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4854D92-1AEE-4AC9-9F1E-FA86587624EA}"/>
              </a:ext>
            </a:extLst>
          </p:cNvPr>
          <p:cNvCxnSpPr>
            <a:cxnSpLocks/>
          </p:cNvCxnSpPr>
          <p:nvPr/>
        </p:nvCxnSpPr>
        <p:spPr>
          <a:xfrm>
            <a:off x="9439603" y="1301757"/>
            <a:ext cx="0" cy="25338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E334ABD-586B-4ABF-B1BF-1A6773435208}"/>
              </a:ext>
            </a:extLst>
          </p:cNvPr>
          <p:cNvSpPr txBox="1"/>
          <p:nvPr/>
        </p:nvSpPr>
        <p:spPr>
          <a:xfrm>
            <a:off x="6219182" y="1125869"/>
            <a:ext cx="31708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u Co Headline 16 Light" panose="020B0503060202020204" pitchFamily="34" charset="0"/>
                <a:cs typeface="du Co Headline 16 Light" panose="020B0503060202020204" pitchFamily="34" charset="0"/>
              </a:rPr>
              <a:t>Per Account Manager 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18C930-715E-4C42-921B-D6BF78764B93}"/>
              </a:ext>
            </a:extLst>
          </p:cNvPr>
          <p:cNvSpPr/>
          <p:nvPr/>
        </p:nvSpPr>
        <p:spPr>
          <a:xfrm rot="16200000">
            <a:off x="9282492" y="-158770"/>
            <a:ext cx="259600" cy="3891825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F2460E-2F06-4244-8292-CB322680E1E7}"/>
              </a:ext>
            </a:extLst>
          </p:cNvPr>
          <p:cNvSpPr/>
          <p:nvPr/>
        </p:nvSpPr>
        <p:spPr>
          <a:xfrm>
            <a:off x="408564" y="1519601"/>
            <a:ext cx="899027" cy="2979979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A83B7738-4417-4CDB-B4E7-9A71452AC27E}"/>
              </a:ext>
            </a:extLst>
          </p:cNvPr>
          <p:cNvGraphicFramePr>
            <a:graphicFrameLocks/>
          </p:cNvGraphicFramePr>
          <p:nvPr/>
        </p:nvGraphicFramePr>
        <p:xfrm>
          <a:off x="364203" y="1447312"/>
          <a:ext cx="5130800" cy="3096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40849D72-6F93-439F-8F2D-4535A8C5636B}"/>
              </a:ext>
            </a:extLst>
          </p:cNvPr>
          <p:cNvGraphicFramePr>
            <a:graphicFrameLocks/>
          </p:cNvGraphicFramePr>
          <p:nvPr/>
        </p:nvGraphicFramePr>
        <p:xfrm>
          <a:off x="6085752" y="1619398"/>
          <a:ext cx="5599338" cy="2812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2518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AC7BF-EED2-4A11-AE71-424C0456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B4232-A3F5-422E-AB7A-64C0F09F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4EDE-60E7-0641-97B3-C7374672FF82}" type="slidenum">
              <a:rPr lang="en-US" smtClean="0"/>
              <a:t>9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8EB12F-E2D5-48AD-AC8F-4F12288F0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Summary:</a:t>
            </a:r>
          </a:p>
          <a:p>
            <a:endParaRPr lang="en-US" dirty="0"/>
          </a:p>
          <a:p>
            <a:r>
              <a:rPr lang="en-US" dirty="0"/>
              <a:t>Count – 62</a:t>
            </a:r>
          </a:p>
          <a:p>
            <a:r>
              <a:rPr lang="en-US" dirty="0"/>
              <a:t>Value – 8.5M AED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95340-B5BF-4CA3-900A-213C554F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Pending OCCs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1491CA-67C3-4C32-8CFE-4A227F6EB9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YTD 2026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273195-10CE-4906-839E-C5A80BBA0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458094"/>
              </p:ext>
            </p:extLst>
          </p:nvPr>
        </p:nvGraphicFramePr>
        <p:xfrm>
          <a:off x="5441795" y="412594"/>
          <a:ext cx="5912005" cy="5548365"/>
        </p:xfrm>
        <a:graphic>
          <a:graphicData uri="http://schemas.openxmlformats.org/drawingml/2006/table">
            <a:tbl>
              <a:tblPr/>
              <a:tblGrid>
                <a:gridCol w="1846392">
                  <a:extLst>
                    <a:ext uri="{9D8B030D-6E8A-4147-A177-3AD203B41FA5}">
                      <a16:colId xmlns:a16="http://schemas.microsoft.com/office/drawing/2014/main" val="2685035800"/>
                    </a:ext>
                  </a:extLst>
                </a:gridCol>
                <a:gridCol w="2041683">
                  <a:extLst>
                    <a:ext uri="{9D8B030D-6E8A-4147-A177-3AD203B41FA5}">
                      <a16:colId xmlns:a16="http://schemas.microsoft.com/office/drawing/2014/main" val="3900281591"/>
                    </a:ext>
                  </a:extLst>
                </a:gridCol>
                <a:gridCol w="2023930">
                  <a:extLst>
                    <a:ext uri="{9D8B030D-6E8A-4147-A177-3AD203B41FA5}">
                      <a16:colId xmlns:a16="http://schemas.microsoft.com/office/drawing/2014/main" val="3372604375"/>
                    </a:ext>
                  </a:extLst>
                </a:gridCol>
              </a:tblGrid>
              <a:tr h="246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Row Labels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 of Account Name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 of Total OCC Value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587232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Account Manager 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71420.21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845995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DXB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71,420.21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89883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CCCO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673,190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990945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673,190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378582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Director 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97,200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812255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97,200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186197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Manager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851,042.45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37162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B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25,400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516988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825,642.45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540602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Head Director 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689,093.47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0944815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DXB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230,000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450801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A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281,103.5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728256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177,989.97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563687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Head of Marketing 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347,600.13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983182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AUH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347,600.13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476872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Pipeline Director 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518,171.79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555450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518,171.79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81589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Director 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44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5,306,668.48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49715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AUH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7,665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666851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DXB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3,694,603.55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025657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F-NE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211,111.52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975417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HUNT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25,968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0188328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B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672,308.23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546920"/>
                  </a:ext>
                </a:extLst>
              </a:tr>
              <a:tr h="358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</a:t>
                      </a:r>
                    </a:p>
                  </a:txBody>
                  <a:tcPr marL="80382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695,012.18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754319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8,554,386.73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38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581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375503-363D-4D73-B845-F5120922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080F6-4131-4264-8002-A62EFD2133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664575" y="6453188"/>
            <a:ext cx="3527425" cy="404812"/>
          </a:xfrm>
        </p:spPr>
        <p:txBody>
          <a:bodyPr/>
          <a:lstStyle/>
          <a:p>
            <a:r>
              <a:rPr lang="en-US"/>
              <a:t>Copyright 2024.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CF944-9A69-43AD-AACA-9C2A62E1E5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6350" y="6453188"/>
            <a:ext cx="755650" cy="404812"/>
          </a:xfrm>
        </p:spPr>
        <p:txBody>
          <a:bodyPr/>
          <a:lstStyle/>
          <a:p>
            <a:fld id="{92824EDE-60E7-0641-97B3-C7374672FF8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164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10201</TotalTime>
  <Words>788</Words>
  <Application>Microsoft Office PowerPoint</Application>
  <PresentationFormat>Widescreen</PresentationFormat>
  <Paragraphs>208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Courier New</vt:lpstr>
      <vt:lpstr>du Co Headline 16</vt:lpstr>
      <vt:lpstr>du Co Headline 16 Light</vt:lpstr>
      <vt:lpstr>du Regular Co 2016</vt:lpstr>
      <vt:lpstr>Office Theme</vt:lpstr>
      <vt:lpstr>think-cell Slide</vt:lpstr>
      <vt:lpstr>OCCs Posted/ Approved for 2026</vt:lpstr>
      <vt:lpstr>Agenda</vt:lpstr>
      <vt:lpstr>PowerPoint Presentation</vt:lpstr>
      <vt:lpstr>PowerPoint Presentation</vt:lpstr>
      <vt:lpstr>PowerPoint Presentation</vt:lpstr>
      <vt:lpstr>PowerPoint Presentation</vt:lpstr>
      <vt:lpstr>OCCs Internal SLA</vt:lpstr>
      <vt:lpstr>OCC – Handset Journey</vt:lpstr>
      <vt:lpstr>Pending OCCs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OCCs Posted/ Approved for 2026</dc:title>
  <dc:creator>Gokul Koria</dc:creator>
  <cp:lastModifiedBy>Tehleel Lone</cp:lastModifiedBy>
  <cp:revision>7</cp:revision>
  <dcterms:created xsi:type="dcterms:W3CDTF">2026-08-11T02:40:18Z</dcterms:created>
  <dcterms:modified xsi:type="dcterms:W3CDTF">2026-08-18T08:24:36Z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631fc3-9a0c-431f-9a31-72e4a001a3af_Enabled">
    <vt:lpwstr>true</vt:lpwstr>
  </property>
  <property fmtid="{D5CDD505-2E9C-101B-9397-08002B2CF9AE}" pid="3" name="MSIP_Label_70631fc3-9a0c-431f-9a31-72e4a001a3af_SetDate">
    <vt:lpwstr>2026-08-12T08:19:42Z</vt:lpwstr>
  </property>
  <property fmtid="{D5CDD505-2E9C-101B-9397-08002B2CF9AE}" pid="4" name="MSIP_Label_70631fc3-9a0c-431f-9a31-72e4a001a3af_Method">
    <vt:lpwstr>Standard</vt:lpwstr>
  </property>
  <property fmtid="{D5CDD505-2E9C-101B-9397-08002B2CF9AE}" pid="5" name="MSIP_Label_70631fc3-9a0c-431f-9a31-72e4a001a3af_Name">
    <vt:lpwstr>Internal</vt:lpwstr>
  </property>
  <property fmtid="{D5CDD505-2E9C-101B-9397-08002B2CF9AE}" pid="6" name="MSIP_Label_70631fc3-9a0c-431f-9a31-72e4a001a3af_SiteId">
    <vt:lpwstr>634c271c-fd02-4c16-9c9f-dd50af6f016c</vt:lpwstr>
  </property>
  <property fmtid="{D5CDD505-2E9C-101B-9397-08002B2CF9AE}" pid="7" name="MSIP_Label_70631fc3-9a0c-431f-9a31-72e4a001a3af_ActionId">
    <vt:lpwstr>0abb3033-39fc-4288-9ed4-9e927ac18c6c</vt:lpwstr>
  </property>
  <property fmtid="{D5CDD505-2E9C-101B-9397-08002B2CF9AE}" pid="8" name="MSIP_Label_70631fc3-9a0c-431f-9a31-72e4a001a3af_ContentBits">
    <vt:lpwstr>2</vt:lpwstr>
  </property>
</Properties>
</file>